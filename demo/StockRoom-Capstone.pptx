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bf231c4a-1e81-e784-b5ac-8681f6db487f}">
          <p14:sldIdLst>
            <p14:sldId id="256"/>
            <p14:sldId id="257"/>
            <p14:sldId id="258"/>
          </p14:sldIdLst>
        </p14:section>
        <p14:section name="How it works" id="{a44ba6cb-0e07-131a-132e-732c1f48db1b}">
          <p14:sldIdLst>
            <p14:sldId id="259"/>
            <p14:sldId id="260"/>
            <p14:sldId id="261"/>
          </p14:sldIdLst>
        </p14:section>
        <p14:section name="Platform" id="{977d92f9-6f25-cfae-d9f3-797cd16eef7c}">
          <p14:sldIdLst>
            <p14:sldId id="262"/>
            <p14:sldId id="263"/>
            <p14:sldId id="264"/>
          </p14:sldIdLst>
        </p14:section>
        <p14:section name="Wrap up" id="{7b484c53-3c9b-3ff3-ff28-17544201c896}">
          <p14:sldIdLst>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this is StockRoom. It's an inventory tracker, but the real project is everything around it: tests, containers, a security gate, Terraform, Kubernetes, GitOps and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 a dashboard of items with KPIs up top. You can search, filter to low stock, and nudge quantities with plus and minus. Behind it is a FastAPI service with full CRUD plus a stock adjust endpoint and a stats endpoint.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tour of the stack. Each box maps to a module in the rubric.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side is delivery: push to GitHub, Actions builds and scans, images land in GHCR. CI then bumps the image tag in git and ArgoCD syncs it into EKS. Terraform builds the cluster itself. Inside the cluster, ingress routes slash to the frontend and slash api to the backend, backend talks to Postgres, Prometheus scrapes the backend and Grafana reads Prometheus.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stages. If tests fail nothing gets built. If Trivy finds a fixable high or critical CVE nothing gets pushed. On main, the last job rewrites the image tag in the Helm values and commits with skip ci, which is what ArgoCD watches.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Trivy scans both images. The pipeline uses ignore-unfixed and exit code 1, so only HIGH or CRITICAL CVEs with an available fix block the build. First scan had four highs, all in pip's own vendored libraries. The app never imports those, and pip isn't needed at runtime, so I uninstall it and the scan comes back clean. I also pinned the Trivy action to a commit SHA, since tags can be moved.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Terraform builds the network and the cluster with the community VPC and EKS modules. Nodes sit in private subnets, load balancers in public ones. One NAT to keep the bill down. EBS CSI is there so Postgres can get a gp3 volume. And terraform destroy at the end so nothing keeps billing.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Helm chart has everything: two deployments, Postgres as a StatefulSet, services, ingress, HPA, a ServiceMonitor and the Grafana dashboard as a ConfigMap. ArgoCD owns the deploy. Git is the source of truth, so if someone edits the cluster by hand ArgoCD puts it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backend exposes Prometheus metrics. A ServiceMonitor in the chart tells Prometheus to scrape it, and the dashboard is a ConfigMap the Grafana sidecar loads automatically, so a fresh cluster gets the dashboard with zero clicking.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few things that bit me. First boot: two backend replicas both tried to run migrations and one crashed, fixed with an init container plus an advisory lock. Trivy findings were all in pip. Some Prometheus targets are always down on a managed control plane. And pin everything by hash.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the overview. Now the live walkthrough, in that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097280"/>
          </a:xfrm>
          <a:prstGeom prst="rect">
            <a:avLst/>
          </a:prstGeom>
          <a:noFill/>
          <a:ln/>
        </p:spPr>
        <p:txBody>
          <a:bodyPr wrap="square" rtlCol="0"/>
          <a:lstStyle>
            <a:lvl1pPr algn="l" indent="0" marL="0">
              <a:buNone/>
              <a:defRPr lang="en-US" sz="48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800" dirty="0"/>
          </a:p>
        </p:txBody>
      </p:sp>
      <p:sp>
        <p:nvSpPr>
          <p:cNvPr id="3" name="Text 0"/>
          <p:cNvSpPr/>
          <p:nvPr>
            <p:ph idx="101" type="body" hasCustomPrompt="1"/>
          </p:nvPr>
        </p:nvSpPr>
        <p:spPr>
          <a:xfrm>
            <a:off x="548640" y="2606040"/>
            <a:ext cx="8046720" cy="914400"/>
          </a:xfrm>
          <a:prstGeom prst="rect">
            <a:avLst/>
          </a:prstGeom>
          <a:noFill/>
          <a:ln/>
        </p:spPr>
        <p:txBody>
          <a:bodyPr wrap="square" rtlCol="0"/>
          <a:lstStyle>
            <a:lvl1pPr algn="l" indent="0" marL="0">
              <a:buNone/>
              <a:defRPr lang="en-US" sz="2000" dirty="0">
                <a:solidFill>
                  <a:schemeClr val="accent3"/>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30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3.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097280"/>
          </a:xfrm>
          <a:prstGeom prst="rect">
            <a:avLst/>
          </a:prstGeom>
          <a:noFill/>
          <a:ln/>
        </p:spPr>
        <p:txBody>
          <a:bodyPr wrap="square" lIns="0" tIns="0" rIns="0" bIns="0" rtlCol="0" anchor="b"/>
          <a:lstStyle/>
          <a:p>
            <a:pPr algn="l" indent="0" marL="0">
              <a:buNone/>
            </a:pPr>
            <a:r>
              <a:rPr lang="en-US" sz="4800" b="1" dirty="0">
                <a:solidFill>
                  <a:schemeClr val="bg1"/>
                </a:solidFill>
                <a:latin typeface="Cambria" pitchFamily="34" charset="0"/>
                <a:ea typeface="Cambria" pitchFamily="34" charset="-122"/>
                <a:cs typeface="Cambria" pitchFamily="34" charset="-120"/>
              </a:rPr>
              <a:t>StockRoom</a:t>
            </a:r>
            <a:endParaRPr lang="en-US" sz="4800" dirty="0"/>
          </a:p>
        </p:txBody>
      </p:sp>
      <p:sp>
        <p:nvSpPr>
          <p:cNvPr id="3" name="Text 0"/>
          <p:cNvSpPr/>
          <p:nvPr>
            <p:ph idx="101" type="body" hasCustomPrompt="1"/>
          </p:nvPr>
        </p:nvSpPr>
        <p:spPr>
          <a:xfrm>
            <a:off x="548640" y="2606040"/>
            <a:ext cx="8046720" cy="914400"/>
          </a:xfrm>
          <a:prstGeom prst="rect">
            <a:avLst/>
          </a:prstGeom>
          <a:noFill/>
          <a:ln/>
        </p:spPr>
        <p:txBody>
          <a:bodyPr wrap="square" lIns="0" tIns="0" rIns="0" bIns="0" rtlCol="0" anchor="t"/>
          <a:lstStyle/>
          <a:p>
            <a:pPr algn="l" indent="0" marL="0">
              <a:buNone/>
            </a:pPr>
            <a:r>
              <a:rPr lang="en-US" sz="2000" dirty="0">
                <a:solidFill>
                  <a:schemeClr val="accent3"/>
                </a:solidFill>
              </a:rPr>
              <a:t>A small inventory app, shipped the DevSecOps way</a:t>
            </a:r>
            <a:endParaRPr lang="en-US" sz="2000" dirty="0"/>
          </a:p>
        </p:txBody>
      </p:sp>
      <p:sp>
        <p:nvSpPr>
          <p:cNvPr id="4" name="logo-circle"/>
          <p:cNvSpPr/>
          <p:nvPr/>
        </p:nvSpPr>
        <p:spPr>
          <a:xfrm>
            <a:off x="548640" y="548640"/>
            <a:ext cx="685800" cy="685800"/>
          </a:xfrm>
          <a:prstGeom prst="ellipse">
            <a:avLst/>
          </a:prstGeom>
          <a:solidFill>
            <a:schemeClr val="accent1"/>
          </a:solidFill>
          <a:ln/>
        </p:spPr>
      </p:sp>
      <p:pic>
        <p:nvPicPr>
          <p:cNvPr id="5" name="logo-icon" descr="logo">    </p:cNvPr>
          <p:cNvPicPr>
            <a:picLocks noChangeAspect="1"/>
          </p:cNvPicPr>
          <p:nvPr/>
        </p:nvPicPr>
        <p:blipFill>
          <a:blip r:embed="rId1"/>
          <a:stretch>
            <a:fillRect/>
          </a:stretch>
        </p:blipFill>
        <p:spPr>
          <a:xfrm>
            <a:off x="713232" y="713232"/>
            <a:ext cx="356616" cy="356616"/>
          </a:xfrm>
          <a:prstGeom prst="rect">
            <a:avLst/>
          </a:prstGeom>
        </p:spPr>
      </p:pic>
      <p:sp>
        <p:nvSpPr>
          <p:cNvPr id="6" name="footer"/>
          <p:cNvSpPr txBox="1"/>
          <p:nvPr/>
        </p:nvSpPr>
        <p:spPr>
          <a:xfrm>
            <a:off x="548640" y="4297680"/>
            <a:ext cx="8046720" cy="365760"/>
          </a:xfrm>
          <a:prstGeom prst="rect">
            <a:avLst/>
          </a:prstGeom>
          <a:noFill/>
          <a:ln/>
        </p:spPr>
        <p:txBody>
          <a:bodyPr wrap="square" lIns="0" tIns="0" rIns="0" bIns="0" rtlCol="0" anchor="t"/>
          <a:lstStyle/>
          <a:p>
            <a:pPr indent="0" marL="0">
              <a:buNone/>
            </a:pPr>
            <a:r>
              <a:rPr lang="en-US" sz="1400" dirty="0">
                <a:solidFill>
                  <a:schemeClr val="accent3"/>
                </a:solidFill>
              </a:rPr>
              <a:t>DevOps Capstone  ·  github.com/u7k4rs6/Capstone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What I built</a:t>
            </a:r>
            <a:endParaRPr lang="en-US" sz="3000" dirty="0"/>
          </a:p>
        </p:txBody>
      </p:sp>
      <p:sp>
        <p:nvSpPr>
          <p:cNvPr id="3" name="what-0-circle"/>
          <p:cNvSpPr/>
          <p:nvPr/>
        </p:nvSpPr>
        <p:spPr>
          <a:xfrm>
            <a:off x="457200" y="1234440"/>
            <a:ext cx="548640" cy="548640"/>
          </a:xfrm>
          <a:prstGeom prst="ellipse">
            <a:avLst/>
          </a:prstGeom>
          <a:solidFill>
            <a:schemeClr val="accent1"/>
          </a:solidFill>
          <a:ln/>
        </p:spPr>
      </p:sp>
      <p:pic>
        <p:nvPicPr>
          <p:cNvPr id="4" name="what-0-icon" descr="what-0">    </p:cNvPr>
          <p:cNvPicPr>
            <a:picLocks noChangeAspect="1"/>
          </p:cNvPicPr>
          <p:nvPr/>
        </p:nvPicPr>
        <p:blipFill>
          <a:blip r:embed="rId1"/>
          <a:stretch>
            <a:fillRect/>
          </a:stretch>
        </p:blipFill>
        <p:spPr>
          <a:xfrm>
            <a:off x="588874" y="1366114"/>
            <a:ext cx="285293" cy="285293"/>
          </a:xfrm>
          <a:prstGeom prst="rect">
            <a:avLst/>
          </a:prstGeom>
        </p:spPr>
      </p:pic>
      <p:sp>
        <p:nvSpPr>
          <p:cNvPr id="5" name="what-h-0"/>
          <p:cNvSpPr txBox="1"/>
          <p:nvPr/>
        </p:nvSpPr>
        <p:spPr>
          <a:xfrm>
            <a:off x="1188720" y="1216152"/>
            <a:ext cx="2743200" cy="320040"/>
          </a:xfrm>
          <a:prstGeom prst="rect">
            <a:avLst/>
          </a:prstGeom>
          <a:noFill/>
          <a:ln/>
        </p:spPr>
        <p:txBody>
          <a:bodyPr wrap="square" lIns="0" tIns="0" rIns="0" bIns="0" rtlCol="0" anchor="t"/>
          <a:lstStyle/>
          <a:p>
            <a:pPr indent="0" marL="0">
              <a:buNone/>
            </a:pPr>
            <a:r>
              <a:rPr lang="en-US" sz="1800" b="1" dirty="0">
                <a:solidFill>
                  <a:schemeClr val="tx2"/>
                </a:solidFill>
              </a:rPr>
              <a:t>Track stock</a:t>
            </a:r>
            <a:endParaRPr lang="en-US" sz="1800" dirty="0"/>
          </a:p>
        </p:txBody>
      </p:sp>
      <p:sp>
        <p:nvSpPr>
          <p:cNvPr id="6" name="what-b-0"/>
          <p:cNvSpPr txBox="1"/>
          <p:nvPr/>
        </p:nvSpPr>
        <p:spPr>
          <a:xfrm>
            <a:off x="1188720" y="1563624"/>
            <a:ext cx="2743200" cy="548640"/>
          </a:xfrm>
          <a:prstGeom prst="rect">
            <a:avLst/>
          </a:prstGeom>
          <a:noFill/>
          <a:ln/>
        </p:spPr>
        <p:txBody>
          <a:bodyPr wrap="square" lIns="0" tIns="0" rIns="0" bIns="0" rtlCol="0" anchor="t"/>
          <a:lstStyle/>
          <a:p>
            <a:pPr indent="0" marL="0">
              <a:buNone/>
            </a:pPr>
            <a:r>
              <a:rPr lang="en-US" sz="1400" dirty="0">
                <a:solidFill>
                  <a:schemeClr val="accent4"/>
                </a:solidFill>
              </a:rPr>
              <a:t>Add items, bump quantities up or down, edit or delete</a:t>
            </a:r>
            <a:endParaRPr lang="en-US" sz="1400" dirty="0"/>
          </a:p>
        </p:txBody>
      </p:sp>
      <p:sp>
        <p:nvSpPr>
          <p:cNvPr id="7" name="what-1-circle"/>
          <p:cNvSpPr/>
          <p:nvPr/>
        </p:nvSpPr>
        <p:spPr>
          <a:xfrm>
            <a:off x="457200" y="2331720"/>
            <a:ext cx="548640" cy="548640"/>
          </a:xfrm>
          <a:prstGeom prst="ellipse">
            <a:avLst/>
          </a:prstGeom>
          <a:solidFill>
            <a:schemeClr val="accent1"/>
          </a:solidFill>
          <a:ln/>
        </p:spPr>
      </p:sp>
      <p:pic>
        <p:nvPicPr>
          <p:cNvPr id="8" name="what-1-icon" descr="what-1">    </p:cNvPr>
          <p:cNvPicPr>
            <a:picLocks noChangeAspect="1"/>
          </p:cNvPicPr>
          <p:nvPr/>
        </p:nvPicPr>
        <p:blipFill>
          <a:blip r:embed="rId2"/>
          <a:stretch>
            <a:fillRect/>
          </a:stretch>
        </p:blipFill>
        <p:spPr>
          <a:xfrm>
            <a:off x="588874" y="2463394"/>
            <a:ext cx="285293" cy="285293"/>
          </a:xfrm>
          <a:prstGeom prst="rect">
            <a:avLst/>
          </a:prstGeom>
        </p:spPr>
      </p:pic>
      <p:sp>
        <p:nvSpPr>
          <p:cNvPr id="9" name="what-h-1"/>
          <p:cNvSpPr txBox="1"/>
          <p:nvPr/>
        </p:nvSpPr>
        <p:spPr>
          <a:xfrm>
            <a:off x="1188720" y="2313432"/>
            <a:ext cx="2743200" cy="320040"/>
          </a:xfrm>
          <a:prstGeom prst="rect">
            <a:avLst/>
          </a:prstGeom>
          <a:noFill/>
          <a:ln/>
        </p:spPr>
        <p:txBody>
          <a:bodyPr wrap="square" lIns="0" tIns="0" rIns="0" bIns="0" rtlCol="0" anchor="t"/>
          <a:lstStyle/>
          <a:p>
            <a:pPr indent="0" marL="0">
              <a:buNone/>
            </a:pPr>
            <a:r>
              <a:rPr lang="en-US" sz="1800" b="1" dirty="0">
                <a:solidFill>
                  <a:schemeClr val="tx2"/>
                </a:solidFill>
              </a:rPr>
              <a:t>Spot low items</a:t>
            </a:r>
            <a:endParaRPr lang="en-US" sz="1800" dirty="0"/>
          </a:p>
        </p:txBody>
      </p:sp>
      <p:sp>
        <p:nvSpPr>
          <p:cNvPr id="10" name="what-b-1"/>
          <p:cNvSpPr txBox="1"/>
          <p:nvPr/>
        </p:nvSpPr>
        <p:spPr>
          <a:xfrm>
            <a:off x="1188720" y="2660904"/>
            <a:ext cx="2743200" cy="548640"/>
          </a:xfrm>
          <a:prstGeom prst="rect">
            <a:avLst/>
          </a:prstGeom>
          <a:noFill/>
          <a:ln/>
        </p:spPr>
        <p:txBody>
          <a:bodyPr wrap="square" lIns="0" tIns="0" rIns="0" bIns="0" rtlCol="0" anchor="t"/>
          <a:lstStyle/>
          <a:p>
            <a:pPr indent="0" marL="0">
              <a:buNone/>
            </a:pPr>
            <a:r>
              <a:rPr lang="en-US" sz="1400" dirty="0">
                <a:solidFill>
                  <a:schemeClr val="accent4"/>
                </a:solidFill>
              </a:rPr>
              <a:t>Anything at or under its reorder level gets flagged</a:t>
            </a:r>
            <a:endParaRPr lang="en-US" sz="1400" dirty="0"/>
          </a:p>
        </p:txBody>
      </p:sp>
      <p:sp>
        <p:nvSpPr>
          <p:cNvPr id="11" name="what-2-circle"/>
          <p:cNvSpPr/>
          <p:nvPr/>
        </p:nvSpPr>
        <p:spPr>
          <a:xfrm>
            <a:off x="457200" y="3429000"/>
            <a:ext cx="548640" cy="548640"/>
          </a:xfrm>
          <a:prstGeom prst="ellipse">
            <a:avLst/>
          </a:prstGeom>
          <a:solidFill>
            <a:schemeClr val="accent1"/>
          </a:solidFill>
          <a:ln/>
        </p:spPr>
      </p:sp>
      <p:pic>
        <p:nvPicPr>
          <p:cNvPr id="12" name="what-2-icon" descr="what-2">    </p:cNvPr>
          <p:cNvPicPr>
            <a:picLocks noChangeAspect="1"/>
          </p:cNvPicPr>
          <p:nvPr/>
        </p:nvPicPr>
        <p:blipFill>
          <a:blip r:embed="rId3"/>
          <a:stretch>
            <a:fillRect/>
          </a:stretch>
        </p:blipFill>
        <p:spPr>
          <a:xfrm>
            <a:off x="588874" y="3560674"/>
            <a:ext cx="285293" cy="285293"/>
          </a:xfrm>
          <a:prstGeom prst="rect">
            <a:avLst/>
          </a:prstGeom>
        </p:spPr>
      </p:pic>
      <p:sp>
        <p:nvSpPr>
          <p:cNvPr id="13" name="what-h-2"/>
          <p:cNvSpPr txBox="1"/>
          <p:nvPr/>
        </p:nvSpPr>
        <p:spPr>
          <a:xfrm>
            <a:off x="1188720" y="3410712"/>
            <a:ext cx="2743200" cy="320040"/>
          </a:xfrm>
          <a:prstGeom prst="rect">
            <a:avLst/>
          </a:prstGeom>
          <a:noFill/>
          <a:ln/>
        </p:spPr>
        <p:txBody>
          <a:bodyPr wrap="square" lIns="0" tIns="0" rIns="0" bIns="0" rtlCol="0" anchor="t"/>
          <a:lstStyle/>
          <a:p>
            <a:pPr indent="0" marL="0">
              <a:buNone/>
            </a:pPr>
            <a:r>
              <a:rPr lang="en-US" sz="1800" b="1" dirty="0">
                <a:solidFill>
                  <a:schemeClr val="tx2"/>
                </a:solidFill>
              </a:rPr>
              <a:t>Ship it properly</a:t>
            </a:r>
            <a:endParaRPr lang="en-US" sz="1800" dirty="0"/>
          </a:p>
        </p:txBody>
      </p:sp>
      <p:sp>
        <p:nvSpPr>
          <p:cNvPr id="14" name="what-b-2"/>
          <p:cNvSpPr txBox="1"/>
          <p:nvPr/>
        </p:nvSpPr>
        <p:spPr>
          <a:xfrm>
            <a:off x="1188720" y="3758184"/>
            <a:ext cx="2743200" cy="548640"/>
          </a:xfrm>
          <a:prstGeom prst="rect">
            <a:avLst/>
          </a:prstGeom>
          <a:noFill/>
          <a:ln/>
        </p:spPr>
        <p:txBody>
          <a:bodyPr wrap="square" lIns="0" tIns="0" rIns="0" bIns="0" rtlCol="0" anchor="t"/>
          <a:lstStyle/>
          <a:p>
            <a:pPr indent="0" marL="0">
              <a:buNone/>
            </a:pPr>
            <a:r>
              <a:rPr lang="en-US" sz="1400" dirty="0">
                <a:solidFill>
                  <a:schemeClr val="accent4"/>
                </a:solidFill>
              </a:rPr>
              <a:t>Every push is tested, scanned and rolled out by ArgoCD</a:t>
            </a:r>
            <a:endParaRPr lang="en-US" sz="1400" dirty="0"/>
          </a:p>
        </p:txBody>
      </p:sp>
      <p:pic>
        <p:nvPicPr>
          <p:cNvPr id="15" name="app-shot" descr="StockRoom dashboard">    </p:cNvPr>
          <p:cNvPicPr>
            <a:picLocks noChangeAspect="1"/>
          </p:cNvPicPr>
          <p:nvPr/>
        </p:nvPicPr>
        <p:blipFill>
          <a:blip r:embed="rId4"/>
          <a:stretch>
            <a:fillRect/>
          </a:stretch>
        </p:blipFill>
        <p:spPr>
          <a:xfrm>
            <a:off x="4206240" y="1188720"/>
            <a:ext cx="4480560" cy="2701574"/>
          </a:xfrm>
          <a:prstGeom prst="rect">
            <a:avLst/>
          </a:prstGeom>
          <a:effectLst>
            <a:outerShdw sx="100000" sy="100000" kx="0" ky="0" algn="bl" rotWithShape="0" blurRad="101600" dist="25400" dir="5400000">
              <a:srgbClr val="000000">
                <a:alpha val="20000"/>
              </a:srgbClr>
            </a:outerShdw>
          </a:effectLst>
        </p:spPr>
      </p:pic>
      <p:sp>
        <p:nvSpPr>
          <p:cNvPr id="16" name="app-caption"/>
          <p:cNvSpPr txBox="1"/>
          <p:nvPr/>
        </p:nvSpPr>
        <p:spPr>
          <a:xfrm>
            <a:off x="4206240" y="4023360"/>
            <a:ext cx="4480560" cy="274320"/>
          </a:xfrm>
          <a:prstGeom prst="rect">
            <a:avLst/>
          </a:prstGeom>
          <a:noFill/>
          <a:ln/>
        </p:spPr>
        <p:txBody>
          <a:bodyPr wrap="square" lIns="0" tIns="0" rIns="0" bIns="0" rtlCol="0" anchor="t"/>
          <a:lstStyle/>
          <a:p>
            <a:pPr indent="0" marL="0">
              <a:buNone/>
            </a:pPr>
            <a:r>
              <a:rPr lang="en-US" sz="1200" dirty="0">
                <a:solidFill>
                  <a:schemeClr val="accent4"/>
                </a:solidFill>
              </a:rPr>
              <a:t>React + FastAPI + Postgres. 10 API routes, 12 tests.</a:t>
            </a:r>
            <a:endParaRPr lang="en-US" sz="12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Tech stack</a:t>
            </a:r>
            <a:endParaRPr lang="en-US" sz="3000" dirty="0"/>
          </a:p>
        </p:txBody>
      </p:sp>
      <p:sp>
        <p:nvSpPr>
          <p:cNvPr id="3" name="stack-card-0"/>
          <p:cNvSpPr/>
          <p:nvPr/>
        </p:nvSpPr>
        <p:spPr>
          <a:xfrm>
            <a:off x="457200" y="1234440"/>
            <a:ext cx="1874520" cy="1554480"/>
          </a:xfrm>
          <a:prstGeom prst="roundRect">
            <a:avLst>
              <a:gd name="adj" fmla="val 4706"/>
            </a:avLst>
          </a:prstGeom>
          <a:solidFill>
            <a:schemeClr val="bg2"/>
          </a:solidFill>
          <a:ln/>
        </p:spPr>
      </p:sp>
      <p:sp>
        <p:nvSpPr>
          <p:cNvPr id="4" name="stack-0-circle"/>
          <p:cNvSpPr/>
          <p:nvPr/>
        </p:nvSpPr>
        <p:spPr>
          <a:xfrm>
            <a:off x="640080" y="1417320"/>
            <a:ext cx="457200" cy="457200"/>
          </a:xfrm>
          <a:prstGeom prst="ellipse">
            <a:avLst/>
          </a:prstGeom>
          <a:solidFill>
            <a:schemeClr val="accent1"/>
          </a:solidFill>
          <a:ln/>
        </p:spPr>
      </p:sp>
      <p:pic>
        <p:nvPicPr>
          <p:cNvPr id="5" name="stack-0-icon" descr="stack-0">    </p:cNvPr>
          <p:cNvPicPr>
            <a:picLocks noChangeAspect="1"/>
          </p:cNvPicPr>
          <p:nvPr/>
        </p:nvPicPr>
        <p:blipFill>
          <a:blip r:embed="rId1"/>
          <a:stretch>
            <a:fillRect/>
          </a:stretch>
        </p:blipFill>
        <p:spPr>
          <a:xfrm>
            <a:off x="749808" y="1527048"/>
            <a:ext cx="237744" cy="237744"/>
          </a:xfrm>
          <a:prstGeom prst="rect">
            <a:avLst/>
          </a:prstGeom>
        </p:spPr>
      </p:pic>
      <p:sp>
        <p:nvSpPr>
          <p:cNvPr id="6" name="stack-h-0"/>
          <p:cNvSpPr txBox="1"/>
          <p:nvPr/>
        </p:nvSpPr>
        <p:spPr>
          <a:xfrm>
            <a:off x="640080" y="1965960"/>
            <a:ext cx="1508760" cy="274320"/>
          </a:xfrm>
          <a:prstGeom prst="rect">
            <a:avLst/>
          </a:prstGeom>
          <a:noFill/>
          <a:ln/>
        </p:spPr>
        <p:txBody>
          <a:bodyPr wrap="square" lIns="0" tIns="0" rIns="0" bIns="0" rtlCol="0" anchor="t"/>
          <a:lstStyle/>
          <a:p>
            <a:pPr indent="0" marL="0">
              <a:buNone/>
            </a:pPr>
            <a:r>
              <a:rPr lang="en-US" sz="1600" b="1" dirty="0">
                <a:solidFill>
                  <a:schemeClr val="tx2"/>
                </a:solidFill>
              </a:rPr>
              <a:t>App</a:t>
            </a:r>
            <a:endParaRPr lang="en-US" sz="1600" dirty="0"/>
          </a:p>
        </p:txBody>
      </p:sp>
      <p:sp>
        <p:nvSpPr>
          <p:cNvPr id="7" name="stack-b-0"/>
          <p:cNvSpPr txBox="1"/>
          <p:nvPr/>
        </p:nvSpPr>
        <p:spPr>
          <a:xfrm>
            <a:off x="640080" y="2240280"/>
            <a:ext cx="1508760" cy="502920"/>
          </a:xfrm>
          <a:prstGeom prst="rect">
            <a:avLst/>
          </a:prstGeom>
          <a:noFill/>
          <a:ln/>
        </p:spPr>
        <p:txBody>
          <a:bodyPr wrap="square" lIns="0" tIns="0" rIns="0" bIns="0" rtlCol="0" anchor="t"/>
          <a:lstStyle/>
          <a:p>
            <a:pPr indent="0" marL="0">
              <a:buNone/>
            </a:pPr>
            <a:r>
              <a:rPr lang="en-US" sz="1200" dirty="0">
                <a:solidFill>
                  <a:schemeClr val="accent4"/>
                </a:solidFill>
              </a:rPr>
              <a:t>React 19, FastAPI, Postgres 17, Alembic</a:t>
            </a:r>
            <a:endParaRPr lang="en-US" sz="1200" dirty="0"/>
          </a:p>
        </p:txBody>
      </p:sp>
      <p:sp>
        <p:nvSpPr>
          <p:cNvPr id="8" name="stack-card-1"/>
          <p:cNvSpPr/>
          <p:nvPr/>
        </p:nvSpPr>
        <p:spPr>
          <a:xfrm>
            <a:off x="2560320" y="1234440"/>
            <a:ext cx="1874520" cy="1554480"/>
          </a:xfrm>
          <a:prstGeom prst="roundRect">
            <a:avLst>
              <a:gd name="adj" fmla="val 4706"/>
            </a:avLst>
          </a:prstGeom>
          <a:solidFill>
            <a:schemeClr val="bg2"/>
          </a:solidFill>
          <a:ln/>
        </p:spPr>
      </p:sp>
      <p:sp>
        <p:nvSpPr>
          <p:cNvPr id="9" name="stack-1-circle"/>
          <p:cNvSpPr/>
          <p:nvPr/>
        </p:nvSpPr>
        <p:spPr>
          <a:xfrm>
            <a:off x="2743200" y="1417320"/>
            <a:ext cx="457200" cy="457200"/>
          </a:xfrm>
          <a:prstGeom prst="ellipse">
            <a:avLst/>
          </a:prstGeom>
          <a:solidFill>
            <a:schemeClr val="accent1"/>
          </a:solidFill>
          <a:ln/>
        </p:spPr>
      </p:sp>
      <p:pic>
        <p:nvPicPr>
          <p:cNvPr id="10" name="stack-1-icon" descr="stack-1">    </p:cNvPr>
          <p:cNvPicPr>
            <a:picLocks noChangeAspect="1"/>
          </p:cNvPicPr>
          <p:nvPr/>
        </p:nvPicPr>
        <p:blipFill>
          <a:blip r:embed="rId2"/>
          <a:stretch>
            <a:fillRect/>
          </a:stretch>
        </p:blipFill>
        <p:spPr>
          <a:xfrm>
            <a:off x="2852928" y="1527048"/>
            <a:ext cx="237744" cy="237744"/>
          </a:xfrm>
          <a:prstGeom prst="rect">
            <a:avLst/>
          </a:prstGeom>
        </p:spPr>
      </p:pic>
      <p:sp>
        <p:nvSpPr>
          <p:cNvPr id="11" name="stack-h-1"/>
          <p:cNvSpPr txBox="1"/>
          <p:nvPr/>
        </p:nvSpPr>
        <p:spPr>
          <a:xfrm>
            <a:off x="2743200" y="1965960"/>
            <a:ext cx="1508760" cy="274320"/>
          </a:xfrm>
          <a:prstGeom prst="rect">
            <a:avLst/>
          </a:prstGeom>
          <a:noFill/>
          <a:ln/>
        </p:spPr>
        <p:txBody>
          <a:bodyPr wrap="square" lIns="0" tIns="0" rIns="0" bIns="0" rtlCol="0" anchor="t"/>
          <a:lstStyle/>
          <a:p>
            <a:pPr indent="0" marL="0">
              <a:buNone/>
            </a:pPr>
            <a:r>
              <a:rPr lang="en-US" sz="1600" b="1" dirty="0">
                <a:solidFill>
                  <a:schemeClr val="tx2"/>
                </a:solidFill>
              </a:rPr>
              <a:t>Testing</a:t>
            </a:r>
            <a:endParaRPr lang="en-US" sz="1600" dirty="0"/>
          </a:p>
        </p:txBody>
      </p:sp>
      <p:sp>
        <p:nvSpPr>
          <p:cNvPr id="12" name="stack-b-1"/>
          <p:cNvSpPr txBox="1"/>
          <p:nvPr/>
        </p:nvSpPr>
        <p:spPr>
          <a:xfrm>
            <a:off x="2743200" y="2240280"/>
            <a:ext cx="1508760" cy="502920"/>
          </a:xfrm>
          <a:prstGeom prst="rect">
            <a:avLst/>
          </a:prstGeom>
          <a:noFill/>
          <a:ln/>
        </p:spPr>
        <p:txBody>
          <a:bodyPr wrap="square" lIns="0" tIns="0" rIns="0" bIns="0" rtlCol="0" anchor="t"/>
          <a:lstStyle/>
          <a:p>
            <a:pPr indent="0" marL="0">
              <a:buNone/>
            </a:pPr>
            <a:r>
              <a:rPr lang="en-US" sz="1200" dirty="0">
                <a:solidFill>
                  <a:schemeClr val="accent4"/>
                </a:solidFill>
              </a:rPr>
              <a:t>pytest on SQLite, ruff</a:t>
            </a:r>
            <a:endParaRPr lang="en-US" sz="1200" dirty="0"/>
          </a:p>
        </p:txBody>
      </p:sp>
      <p:sp>
        <p:nvSpPr>
          <p:cNvPr id="13" name="stack-card-2"/>
          <p:cNvSpPr/>
          <p:nvPr/>
        </p:nvSpPr>
        <p:spPr>
          <a:xfrm>
            <a:off x="4663440" y="1234440"/>
            <a:ext cx="1874520" cy="1554480"/>
          </a:xfrm>
          <a:prstGeom prst="roundRect">
            <a:avLst>
              <a:gd name="adj" fmla="val 4706"/>
            </a:avLst>
          </a:prstGeom>
          <a:solidFill>
            <a:schemeClr val="bg2"/>
          </a:solidFill>
          <a:ln/>
        </p:spPr>
      </p:sp>
      <p:sp>
        <p:nvSpPr>
          <p:cNvPr id="14" name="stack-2-circle"/>
          <p:cNvSpPr/>
          <p:nvPr/>
        </p:nvSpPr>
        <p:spPr>
          <a:xfrm>
            <a:off x="4846320" y="1417320"/>
            <a:ext cx="457200" cy="457200"/>
          </a:xfrm>
          <a:prstGeom prst="ellipse">
            <a:avLst/>
          </a:prstGeom>
          <a:solidFill>
            <a:schemeClr val="accent1"/>
          </a:solidFill>
          <a:ln/>
        </p:spPr>
      </p:sp>
      <p:pic>
        <p:nvPicPr>
          <p:cNvPr id="15" name="stack-2-icon" descr="stack-2">    </p:cNvPr>
          <p:cNvPicPr>
            <a:picLocks noChangeAspect="1"/>
          </p:cNvPicPr>
          <p:nvPr/>
        </p:nvPicPr>
        <p:blipFill>
          <a:blip r:embed="rId3"/>
          <a:stretch>
            <a:fillRect/>
          </a:stretch>
        </p:blipFill>
        <p:spPr>
          <a:xfrm>
            <a:off x="4956048" y="1527048"/>
            <a:ext cx="237744" cy="237744"/>
          </a:xfrm>
          <a:prstGeom prst="rect">
            <a:avLst/>
          </a:prstGeom>
        </p:spPr>
      </p:pic>
      <p:sp>
        <p:nvSpPr>
          <p:cNvPr id="16" name="stack-h-2"/>
          <p:cNvSpPr txBox="1"/>
          <p:nvPr/>
        </p:nvSpPr>
        <p:spPr>
          <a:xfrm>
            <a:off x="4846320" y="1965960"/>
            <a:ext cx="1508760" cy="274320"/>
          </a:xfrm>
          <a:prstGeom prst="rect">
            <a:avLst/>
          </a:prstGeom>
          <a:noFill/>
          <a:ln/>
        </p:spPr>
        <p:txBody>
          <a:bodyPr wrap="square" lIns="0" tIns="0" rIns="0" bIns="0" rtlCol="0" anchor="t"/>
          <a:lstStyle/>
          <a:p>
            <a:pPr indent="0" marL="0">
              <a:buNone/>
            </a:pPr>
            <a:r>
              <a:rPr lang="en-US" sz="1600" b="1" dirty="0">
                <a:solidFill>
                  <a:schemeClr val="tx2"/>
                </a:solidFill>
              </a:rPr>
              <a:t>Containers</a:t>
            </a:r>
            <a:endParaRPr lang="en-US" sz="1600" dirty="0"/>
          </a:p>
        </p:txBody>
      </p:sp>
      <p:sp>
        <p:nvSpPr>
          <p:cNvPr id="17" name="stack-b-2"/>
          <p:cNvSpPr txBox="1"/>
          <p:nvPr/>
        </p:nvSpPr>
        <p:spPr>
          <a:xfrm>
            <a:off x="4846320" y="2240280"/>
            <a:ext cx="1508760" cy="502920"/>
          </a:xfrm>
          <a:prstGeom prst="rect">
            <a:avLst/>
          </a:prstGeom>
          <a:noFill/>
          <a:ln/>
        </p:spPr>
        <p:txBody>
          <a:bodyPr wrap="square" lIns="0" tIns="0" rIns="0" bIns="0" rtlCol="0" anchor="t"/>
          <a:lstStyle/>
          <a:p>
            <a:pPr indent="0" marL="0">
              <a:buNone/>
            </a:pPr>
            <a:r>
              <a:rPr lang="en-US" sz="1200" dirty="0">
                <a:solidFill>
                  <a:schemeClr val="accent4"/>
                </a:solidFill>
              </a:rPr>
              <a:t>Docker, Compose, non-root</a:t>
            </a:r>
            <a:endParaRPr lang="en-US" sz="1200" dirty="0"/>
          </a:p>
        </p:txBody>
      </p:sp>
      <p:sp>
        <p:nvSpPr>
          <p:cNvPr id="18" name="stack-card-3"/>
          <p:cNvSpPr/>
          <p:nvPr/>
        </p:nvSpPr>
        <p:spPr>
          <a:xfrm>
            <a:off x="6766560" y="1234440"/>
            <a:ext cx="1874520" cy="1554480"/>
          </a:xfrm>
          <a:prstGeom prst="roundRect">
            <a:avLst>
              <a:gd name="adj" fmla="val 4706"/>
            </a:avLst>
          </a:prstGeom>
          <a:solidFill>
            <a:schemeClr val="bg2"/>
          </a:solidFill>
          <a:ln/>
        </p:spPr>
      </p:sp>
      <p:sp>
        <p:nvSpPr>
          <p:cNvPr id="19" name="stack-3-circle"/>
          <p:cNvSpPr/>
          <p:nvPr/>
        </p:nvSpPr>
        <p:spPr>
          <a:xfrm>
            <a:off x="6949440" y="1417320"/>
            <a:ext cx="457200" cy="457200"/>
          </a:xfrm>
          <a:prstGeom prst="ellipse">
            <a:avLst/>
          </a:prstGeom>
          <a:solidFill>
            <a:schemeClr val="accent1"/>
          </a:solidFill>
          <a:ln/>
        </p:spPr>
      </p:sp>
      <p:pic>
        <p:nvPicPr>
          <p:cNvPr id="20" name="stack-3-icon" descr="stack-3">    </p:cNvPr>
          <p:cNvPicPr>
            <a:picLocks noChangeAspect="1"/>
          </p:cNvPicPr>
          <p:nvPr/>
        </p:nvPicPr>
        <p:blipFill>
          <a:blip r:embed="rId4"/>
          <a:stretch>
            <a:fillRect/>
          </a:stretch>
        </p:blipFill>
        <p:spPr>
          <a:xfrm>
            <a:off x="7059168" y="1527048"/>
            <a:ext cx="237744" cy="237744"/>
          </a:xfrm>
          <a:prstGeom prst="rect">
            <a:avLst/>
          </a:prstGeom>
        </p:spPr>
      </p:pic>
      <p:sp>
        <p:nvSpPr>
          <p:cNvPr id="21" name="stack-h-3"/>
          <p:cNvSpPr txBox="1"/>
          <p:nvPr/>
        </p:nvSpPr>
        <p:spPr>
          <a:xfrm>
            <a:off x="6949440" y="1965960"/>
            <a:ext cx="1508760" cy="274320"/>
          </a:xfrm>
          <a:prstGeom prst="rect">
            <a:avLst/>
          </a:prstGeom>
          <a:noFill/>
          <a:ln/>
        </p:spPr>
        <p:txBody>
          <a:bodyPr wrap="square" lIns="0" tIns="0" rIns="0" bIns="0" rtlCol="0" anchor="t"/>
          <a:lstStyle/>
          <a:p>
            <a:pPr indent="0" marL="0">
              <a:buNone/>
            </a:pPr>
            <a:r>
              <a:rPr lang="en-US" sz="1600" b="1" dirty="0">
                <a:solidFill>
                  <a:schemeClr val="tx2"/>
                </a:solidFill>
              </a:rPr>
              <a:t>CI/CD</a:t>
            </a:r>
            <a:endParaRPr lang="en-US" sz="1600" dirty="0"/>
          </a:p>
        </p:txBody>
      </p:sp>
      <p:sp>
        <p:nvSpPr>
          <p:cNvPr id="22" name="stack-b-3"/>
          <p:cNvSpPr txBox="1"/>
          <p:nvPr/>
        </p:nvSpPr>
        <p:spPr>
          <a:xfrm>
            <a:off x="6949440" y="2240280"/>
            <a:ext cx="1508760" cy="502920"/>
          </a:xfrm>
          <a:prstGeom prst="rect">
            <a:avLst/>
          </a:prstGeom>
          <a:noFill/>
          <a:ln/>
        </p:spPr>
        <p:txBody>
          <a:bodyPr wrap="square" lIns="0" tIns="0" rIns="0" bIns="0" rtlCol="0" anchor="t"/>
          <a:lstStyle/>
          <a:p>
            <a:pPr indent="0" marL="0">
              <a:buNone/>
            </a:pPr>
            <a:r>
              <a:rPr lang="en-US" sz="1200" dirty="0">
                <a:solidFill>
                  <a:schemeClr val="accent4"/>
                </a:solidFill>
              </a:rPr>
              <a:t>GitHub Actions, GHCR</a:t>
            </a:r>
            <a:endParaRPr lang="en-US" sz="1200" dirty="0"/>
          </a:p>
        </p:txBody>
      </p:sp>
      <p:sp>
        <p:nvSpPr>
          <p:cNvPr id="23" name="stack-card-4"/>
          <p:cNvSpPr/>
          <p:nvPr/>
        </p:nvSpPr>
        <p:spPr>
          <a:xfrm>
            <a:off x="457200" y="3017520"/>
            <a:ext cx="1874520" cy="1554480"/>
          </a:xfrm>
          <a:prstGeom prst="roundRect">
            <a:avLst>
              <a:gd name="adj" fmla="val 4706"/>
            </a:avLst>
          </a:prstGeom>
          <a:solidFill>
            <a:schemeClr val="bg2"/>
          </a:solidFill>
          <a:ln/>
        </p:spPr>
      </p:sp>
      <p:sp>
        <p:nvSpPr>
          <p:cNvPr id="24" name="stack-4-circle"/>
          <p:cNvSpPr/>
          <p:nvPr/>
        </p:nvSpPr>
        <p:spPr>
          <a:xfrm>
            <a:off x="640080" y="3200400"/>
            <a:ext cx="457200" cy="457200"/>
          </a:xfrm>
          <a:prstGeom prst="ellipse">
            <a:avLst/>
          </a:prstGeom>
          <a:solidFill>
            <a:schemeClr val="accent1"/>
          </a:solidFill>
          <a:ln/>
        </p:spPr>
      </p:sp>
      <p:pic>
        <p:nvPicPr>
          <p:cNvPr id="25" name="stack-4-icon" descr="stack-4">    </p:cNvPr>
          <p:cNvPicPr>
            <a:picLocks noChangeAspect="1"/>
          </p:cNvPicPr>
          <p:nvPr/>
        </p:nvPicPr>
        <p:blipFill>
          <a:blip r:embed="rId5"/>
          <a:stretch>
            <a:fillRect/>
          </a:stretch>
        </p:blipFill>
        <p:spPr>
          <a:xfrm>
            <a:off x="749808" y="3310128"/>
            <a:ext cx="237744" cy="237744"/>
          </a:xfrm>
          <a:prstGeom prst="rect">
            <a:avLst/>
          </a:prstGeom>
        </p:spPr>
      </p:pic>
      <p:sp>
        <p:nvSpPr>
          <p:cNvPr id="26" name="stack-h-4"/>
          <p:cNvSpPr txBox="1"/>
          <p:nvPr/>
        </p:nvSpPr>
        <p:spPr>
          <a:xfrm>
            <a:off x="640080" y="3749040"/>
            <a:ext cx="1508760" cy="274320"/>
          </a:xfrm>
          <a:prstGeom prst="rect">
            <a:avLst/>
          </a:prstGeom>
          <a:noFill/>
          <a:ln/>
        </p:spPr>
        <p:txBody>
          <a:bodyPr wrap="square" lIns="0" tIns="0" rIns="0" bIns="0" rtlCol="0" anchor="t"/>
          <a:lstStyle/>
          <a:p>
            <a:pPr indent="0" marL="0">
              <a:buNone/>
            </a:pPr>
            <a:r>
              <a:rPr lang="en-US" sz="1600" b="1" dirty="0">
                <a:solidFill>
                  <a:schemeClr val="tx2"/>
                </a:solidFill>
              </a:rPr>
              <a:t>Security</a:t>
            </a:r>
            <a:endParaRPr lang="en-US" sz="1600" dirty="0"/>
          </a:p>
        </p:txBody>
      </p:sp>
      <p:sp>
        <p:nvSpPr>
          <p:cNvPr id="27" name="stack-b-4"/>
          <p:cNvSpPr txBox="1"/>
          <p:nvPr/>
        </p:nvSpPr>
        <p:spPr>
          <a:xfrm>
            <a:off x="640080" y="4023360"/>
            <a:ext cx="1508760" cy="502920"/>
          </a:xfrm>
          <a:prstGeom prst="rect">
            <a:avLst/>
          </a:prstGeom>
          <a:noFill/>
          <a:ln/>
        </p:spPr>
        <p:txBody>
          <a:bodyPr wrap="square" lIns="0" tIns="0" rIns="0" bIns="0" rtlCol="0" anchor="t"/>
          <a:lstStyle/>
          <a:p>
            <a:pPr indent="0" marL="0">
              <a:buNone/>
            </a:pPr>
            <a:r>
              <a:rPr lang="en-US" sz="1200" dirty="0">
                <a:solidFill>
                  <a:schemeClr val="accent4"/>
                </a:solidFill>
              </a:rPr>
              <a:t>Trivy, fail on HIGH/CRITICAL</a:t>
            </a:r>
            <a:endParaRPr lang="en-US" sz="1200" dirty="0"/>
          </a:p>
        </p:txBody>
      </p:sp>
      <p:sp>
        <p:nvSpPr>
          <p:cNvPr id="28" name="stack-card-5"/>
          <p:cNvSpPr/>
          <p:nvPr/>
        </p:nvSpPr>
        <p:spPr>
          <a:xfrm>
            <a:off x="2560320" y="3017520"/>
            <a:ext cx="1874520" cy="1554480"/>
          </a:xfrm>
          <a:prstGeom prst="roundRect">
            <a:avLst>
              <a:gd name="adj" fmla="val 4706"/>
            </a:avLst>
          </a:prstGeom>
          <a:solidFill>
            <a:schemeClr val="bg2"/>
          </a:solidFill>
          <a:ln/>
        </p:spPr>
      </p:sp>
      <p:sp>
        <p:nvSpPr>
          <p:cNvPr id="29" name="stack-5-circle"/>
          <p:cNvSpPr/>
          <p:nvPr/>
        </p:nvSpPr>
        <p:spPr>
          <a:xfrm>
            <a:off x="2743200" y="3200400"/>
            <a:ext cx="457200" cy="457200"/>
          </a:xfrm>
          <a:prstGeom prst="ellipse">
            <a:avLst/>
          </a:prstGeom>
          <a:solidFill>
            <a:schemeClr val="accent1"/>
          </a:solidFill>
          <a:ln/>
        </p:spPr>
      </p:sp>
      <p:pic>
        <p:nvPicPr>
          <p:cNvPr id="30" name="stack-5-icon" descr="stack-5">    </p:cNvPr>
          <p:cNvPicPr>
            <a:picLocks noChangeAspect="1"/>
          </p:cNvPicPr>
          <p:nvPr/>
        </p:nvPicPr>
        <p:blipFill>
          <a:blip r:embed="rId6"/>
          <a:stretch>
            <a:fillRect/>
          </a:stretch>
        </p:blipFill>
        <p:spPr>
          <a:xfrm>
            <a:off x="2852928" y="3310128"/>
            <a:ext cx="237744" cy="237744"/>
          </a:xfrm>
          <a:prstGeom prst="rect">
            <a:avLst/>
          </a:prstGeom>
        </p:spPr>
      </p:pic>
      <p:sp>
        <p:nvSpPr>
          <p:cNvPr id="31" name="stack-h-5"/>
          <p:cNvSpPr txBox="1"/>
          <p:nvPr/>
        </p:nvSpPr>
        <p:spPr>
          <a:xfrm>
            <a:off x="2743200" y="3749040"/>
            <a:ext cx="1508760" cy="274320"/>
          </a:xfrm>
          <a:prstGeom prst="rect">
            <a:avLst/>
          </a:prstGeom>
          <a:noFill/>
          <a:ln/>
        </p:spPr>
        <p:txBody>
          <a:bodyPr wrap="square" lIns="0" tIns="0" rIns="0" bIns="0" rtlCol="0" anchor="t"/>
          <a:lstStyle/>
          <a:p>
            <a:pPr indent="0" marL="0">
              <a:buNone/>
            </a:pPr>
            <a:r>
              <a:rPr lang="en-US" sz="1600" b="1" dirty="0">
                <a:solidFill>
                  <a:schemeClr val="tx2"/>
                </a:solidFill>
              </a:rPr>
              <a:t>Infra</a:t>
            </a:r>
            <a:endParaRPr lang="en-US" sz="1600" dirty="0"/>
          </a:p>
        </p:txBody>
      </p:sp>
      <p:sp>
        <p:nvSpPr>
          <p:cNvPr id="32" name="stack-b-5"/>
          <p:cNvSpPr txBox="1"/>
          <p:nvPr/>
        </p:nvSpPr>
        <p:spPr>
          <a:xfrm>
            <a:off x="2743200" y="4023360"/>
            <a:ext cx="1508760" cy="502920"/>
          </a:xfrm>
          <a:prstGeom prst="rect">
            <a:avLst/>
          </a:prstGeom>
          <a:noFill/>
          <a:ln/>
        </p:spPr>
        <p:txBody>
          <a:bodyPr wrap="square" lIns="0" tIns="0" rIns="0" bIns="0" rtlCol="0" anchor="t"/>
          <a:lstStyle/>
          <a:p>
            <a:pPr indent="0" marL="0">
              <a:buNone/>
            </a:pPr>
            <a:r>
              <a:rPr lang="en-US" sz="1200" dirty="0">
                <a:solidFill>
                  <a:schemeClr val="accent4"/>
                </a:solidFill>
              </a:rPr>
              <a:t>Terraform, AWS VPC + EKS</a:t>
            </a:r>
            <a:endParaRPr lang="en-US" sz="1200" dirty="0"/>
          </a:p>
        </p:txBody>
      </p:sp>
      <p:sp>
        <p:nvSpPr>
          <p:cNvPr id="33" name="stack-card-6"/>
          <p:cNvSpPr/>
          <p:nvPr/>
        </p:nvSpPr>
        <p:spPr>
          <a:xfrm>
            <a:off x="4663440" y="3017520"/>
            <a:ext cx="1874520" cy="1554480"/>
          </a:xfrm>
          <a:prstGeom prst="roundRect">
            <a:avLst>
              <a:gd name="adj" fmla="val 4706"/>
            </a:avLst>
          </a:prstGeom>
          <a:solidFill>
            <a:schemeClr val="bg2"/>
          </a:solidFill>
          <a:ln/>
        </p:spPr>
      </p:sp>
      <p:sp>
        <p:nvSpPr>
          <p:cNvPr id="34" name="stack-6-circle"/>
          <p:cNvSpPr/>
          <p:nvPr/>
        </p:nvSpPr>
        <p:spPr>
          <a:xfrm>
            <a:off x="4846320" y="3200400"/>
            <a:ext cx="457200" cy="457200"/>
          </a:xfrm>
          <a:prstGeom prst="ellipse">
            <a:avLst/>
          </a:prstGeom>
          <a:solidFill>
            <a:schemeClr val="accent1"/>
          </a:solidFill>
          <a:ln/>
        </p:spPr>
      </p:sp>
      <p:pic>
        <p:nvPicPr>
          <p:cNvPr id="35" name="stack-6-icon" descr="stack-6">    </p:cNvPr>
          <p:cNvPicPr>
            <a:picLocks noChangeAspect="1"/>
          </p:cNvPicPr>
          <p:nvPr/>
        </p:nvPicPr>
        <p:blipFill>
          <a:blip r:embed="rId7"/>
          <a:stretch>
            <a:fillRect/>
          </a:stretch>
        </p:blipFill>
        <p:spPr>
          <a:xfrm>
            <a:off x="4956048" y="3310128"/>
            <a:ext cx="237744" cy="237744"/>
          </a:xfrm>
          <a:prstGeom prst="rect">
            <a:avLst/>
          </a:prstGeom>
        </p:spPr>
      </p:pic>
      <p:sp>
        <p:nvSpPr>
          <p:cNvPr id="36" name="stack-h-6"/>
          <p:cNvSpPr txBox="1"/>
          <p:nvPr/>
        </p:nvSpPr>
        <p:spPr>
          <a:xfrm>
            <a:off x="4846320" y="3749040"/>
            <a:ext cx="1508760" cy="274320"/>
          </a:xfrm>
          <a:prstGeom prst="rect">
            <a:avLst/>
          </a:prstGeom>
          <a:noFill/>
          <a:ln/>
        </p:spPr>
        <p:txBody>
          <a:bodyPr wrap="square" lIns="0" tIns="0" rIns="0" bIns="0" rtlCol="0" anchor="t"/>
          <a:lstStyle/>
          <a:p>
            <a:pPr indent="0" marL="0">
              <a:buNone/>
            </a:pPr>
            <a:r>
              <a:rPr lang="en-US" sz="1600" b="1" dirty="0">
                <a:solidFill>
                  <a:schemeClr val="tx2"/>
                </a:solidFill>
              </a:rPr>
              <a:t>Deploy</a:t>
            </a:r>
            <a:endParaRPr lang="en-US" sz="1600" dirty="0"/>
          </a:p>
        </p:txBody>
      </p:sp>
      <p:sp>
        <p:nvSpPr>
          <p:cNvPr id="37" name="stack-b-6"/>
          <p:cNvSpPr txBox="1"/>
          <p:nvPr/>
        </p:nvSpPr>
        <p:spPr>
          <a:xfrm>
            <a:off x="4846320" y="4023360"/>
            <a:ext cx="1508760" cy="502920"/>
          </a:xfrm>
          <a:prstGeom prst="rect">
            <a:avLst/>
          </a:prstGeom>
          <a:noFill/>
          <a:ln/>
        </p:spPr>
        <p:txBody>
          <a:bodyPr wrap="square" lIns="0" tIns="0" rIns="0" bIns="0" rtlCol="0" anchor="t"/>
          <a:lstStyle/>
          <a:p>
            <a:pPr indent="0" marL="0">
              <a:buNone/>
            </a:pPr>
            <a:r>
              <a:rPr lang="en-US" sz="1200" dirty="0">
                <a:solidFill>
                  <a:schemeClr val="accent4"/>
                </a:solidFill>
              </a:rPr>
              <a:t>Helm, ArgoCD, HPA, ingress</a:t>
            </a:r>
            <a:endParaRPr lang="en-US" sz="1200" dirty="0"/>
          </a:p>
        </p:txBody>
      </p:sp>
      <p:sp>
        <p:nvSpPr>
          <p:cNvPr id="38" name="stack-card-7"/>
          <p:cNvSpPr/>
          <p:nvPr/>
        </p:nvSpPr>
        <p:spPr>
          <a:xfrm>
            <a:off x="6766560" y="3017520"/>
            <a:ext cx="1874520" cy="1554480"/>
          </a:xfrm>
          <a:prstGeom prst="roundRect">
            <a:avLst>
              <a:gd name="adj" fmla="val 4706"/>
            </a:avLst>
          </a:prstGeom>
          <a:solidFill>
            <a:schemeClr val="bg2"/>
          </a:solidFill>
          <a:ln/>
        </p:spPr>
      </p:sp>
      <p:sp>
        <p:nvSpPr>
          <p:cNvPr id="39" name="stack-7-circle"/>
          <p:cNvSpPr/>
          <p:nvPr/>
        </p:nvSpPr>
        <p:spPr>
          <a:xfrm>
            <a:off x="6949440" y="3200400"/>
            <a:ext cx="457200" cy="457200"/>
          </a:xfrm>
          <a:prstGeom prst="ellipse">
            <a:avLst/>
          </a:prstGeom>
          <a:solidFill>
            <a:schemeClr val="accent1"/>
          </a:solidFill>
          <a:ln/>
        </p:spPr>
      </p:sp>
      <p:pic>
        <p:nvPicPr>
          <p:cNvPr id="40" name="stack-7-icon" descr="stack-7">    </p:cNvPr>
          <p:cNvPicPr>
            <a:picLocks noChangeAspect="1"/>
          </p:cNvPicPr>
          <p:nvPr/>
        </p:nvPicPr>
        <p:blipFill>
          <a:blip r:embed="rId8"/>
          <a:stretch>
            <a:fillRect/>
          </a:stretch>
        </p:blipFill>
        <p:spPr>
          <a:xfrm>
            <a:off x="7059168" y="3310128"/>
            <a:ext cx="237744" cy="237744"/>
          </a:xfrm>
          <a:prstGeom prst="rect">
            <a:avLst/>
          </a:prstGeom>
        </p:spPr>
      </p:pic>
      <p:sp>
        <p:nvSpPr>
          <p:cNvPr id="41" name="stack-h-7"/>
          <p:cNvSpPr txBox="1"/>
          <p:nvPr/>
        </p:nvSpPr>
        <p:spPr>
          <a:xfrm>
            <a:off x="6949440" y="3749040"/>
            <a:ext cx="1508760" cy="274320"/>
          </a:xfrm>
          <a:prstGeom prst="rect">
            <a:avLst/>
          </a:prstGeom>
          <a:noFill/>
          <a:ln/>
        </p:spPr>
        <p:txBody>
          <a:bodyPr wrap="square" lIns="0" tIns="0" rIns="0" bIns="0" rtlCol="0" anchor="t"/>
          <a:lstStyle/>
          <a:p>
            <a:pPr indent="0" marL="0">
              <a:buNone/>
            </a:pPr>
            <a:r>
              <a:rPr lang="en-US" sz="1600" b="1" dirty="0">
                <a:solidFill>
                  <a:schemeClr val="tx2"/>
                </a:solidFill>
              </a:rPr>
              <a:t>Observability</a:t>
            </a:r>
            <a:endParaRPr lang="en-US" sz="1600" dirty="0"/>
          </a:p>
        </p:txBody>
      </p:sp>
      <p:sp>
        <p:nvSpPr>
          <p:cNvPr id="42" name="stack-b-7"/>
          <p:cNvSpPr txBox="1"/>
          <p:nvPr/>
        </p:nvSpPr>
        <p:spPr>
          <a:xfrm>
            <a:off x="6949440" y="4023360"/>
            <a:ext cx="1508760" cy="502920"/>
          </a:xfrm>
          <a:prstGeom prst="rect">
            <a:avLst/>
          </a:prstGeom>
          <a:noFill/>
          <a:ln/>
        </p:spPr>
        <p:txBody>
          <a:bodyPr wrap="square" lIns="0" tIns="0" rIns="0" bIns="0" rtlCol="0" anchor="t"/>
          <a:lstStyle/>
          <a:p>
            <a:pPr indent="0" marL="0">
              <a:buNone/>
            </a:pPr>
            <a:r>
              <a:rPr lang="en-US" sz="1200" dirty="0">
                <a:solidFill>
                  <a:schemeClr val="accent4"/>
                </a:solidFill>
              </a:rPr>
              <a:t>Prometheus, Grafana</a:t>
            </a:r>
            <a:endParaRPr lang="en-US" sz="12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Architecture</a:t>
            </a:r>
            <a:endParaRPr lang="en-US" sz="3000" dirty="0"/>
          </a:p>
        </p:txBody>
      </p:sp>
      <p:sp>
        <p:nvSpPr>
          <p:cNvPr id="3" name="a-dev"/>
          <p:cNvSpPr/>
          <p:nvPr/>
        </p:nvSpPr>
        <p:spPr>
          <a:xfrm>
            <a:off x="457200" y="1234440"/>
            <a:ext cx="1463040" cy="457200"/>
          </a:xfrm>
          <a:prstGeom prst="roundRect">
            <a:avLst>
              <a:gd name="adj" fmla="val 12000"/>
            </a:avLst>
          </a:prstGeom>
          <a:solidFill>
            <a:schemeClr val="tx2"/>
          </a:solidFill>
          <a:ln/>
        </p:spPr>
      </p:sp>
      <p:sp>
        <p:nvSpPr>
          <p:cNvPr id="4" name="a-dev-label"/>
          <p:cNvSpPr txBox="1"/>
          <p:nvPr/>
        </p:nvSpPr>
        <p:spPr>
          <a:xfrm>
            <a:off x="457200" y="1234440"/>
            <a:ext cx="1463040" cy="457200"/>
          </a:xfrm>
          <a:prstGeom prst="rect">
            <a:avLst/>
          </a:prstGeom>
          <a:noFill/>
          <a:ln/>
        </p:spPr>
        <p:txBody>
          <a:bodyPr wrap="square" lIns="0" tIns="0" rIns="0" bIns="0" rtlCol="0" anchor="ctr"/>
          <a:lstStyle/>
          <a:p>
            <a:pPr algn="ctr" indent="0" marL="0">
              <a:buNone/>
            </a:pPr>
            <a:r>
              <a:rPr lang="en-US" sz="1200" b="1" dirty="0">
                <a:solidFill>
                  <a:schemeClr val="bg1"/>
                </a:solidFill>
              </a:rPr>
              <a:t>Developer</a:t>
            </a:r>
            <a:endParaRPr lang="en-US" sz="1200" dirty="0"/>
          </a:p>
        </p:txBody>
      </p:sp>
      <p:sp>
        <p:nvSpPr>
          <p:cNvPr id="5" name="a-gh"/>
          <p:cNvSpPr/>
          <p:nvPr/>
        </p:nvSpPr>
        <p:spPr>
          <a:xfrm>
            <a:off x="457200" y="2057400"/>
            <a:ext cx="1463040" cy="457200"/>
          </a:xfrm>
          <a:prstGeom prst="roundRect">
            <a:avLst>
              <a:gd name="adj" fmla="val 12000"/>
            </a:avLst>
          </a:prstGeom>
          <a:solidFill>
            <a:schemeClr val="tx2"/>
          </a:solidFill>
          <a:ln/>
        </p:spPr>
      </p:sp>
      <p:sp>
        <p:nvSpPr>
          <p:cNvPr id="6" name="a-gh-label"/>
          <p:cNvSpPr txBox="1"/>
          <p:nvPr/>
        </p:nvSpPr>
        <p:spPr>
          <a:xfrm>
            <a:off x="457200" y="2057400"/>
            <a:ext cx="1463040" cy="457200"/>
          </a:xfrm>
          <a:prstGeom prst="rect">
            <a:avLst/>
          </a:prstGeom>
          <a:noFill/>
          <a:ln/>
        </p:spPr>
        <p:txBody>
          <a:bodyPr wrap="square" lIns="0" tIns="0" rIns="0" bIns="0" rtlCol="0" anchor="ctr"/>
          <a:lstStyle/>
          <a:p>
            <a:pPr algn="ctr" indent="0" marL="0">
              <a:buNone/>
            </a:pPr>
            <a:r>
              <a:rPr lang="en-US" sz="1200" b="1" dirty="0">
                <a:solidFill>
                  <a:schemeClr val="bg1"/>
                </a:solidFill>
              </a:rPr>
              <a:t>GitHub</a:t>
            </a:r>
            <a:endParaRPr lang="en-US" sz="1200" dirty="0"/>
          </a:p>
        </p:txBody>
      </p:sp>
      <p:sp>
        <p:nvSpPr>
          <p:cNvPr id="7" name="a-ci"/>
          <p:cNvSpPr/>
          <p:nvPr/>
        </p:nvSpPr>
        <p:spPr>
          <a:xfrm>
            <a:off x="457200" y="2880360"/>
            <a:ext cx="1463040" cy="457200"/>
          </a:xfrm>
          <a:prstGeom prst="roundRect">
            <a:avLst>
              <a:gd name="adj" fmla="val 12000"/>
            </a:avLst>
          </a:prstGeom>
          <a:solidFill>
            <a:schemeClr val="tx2"/>
          </a:solidFill>
          <a:ln/>
        </p:spPr>
      </p:sp>
      <p:sp>
        <p:nvSpPr>
          <p:cNvPr id="8" name="a-ci-label"/>
          <p:cNvSpPr txBox="1"/>
          <p:nvPr/>
        </p:nvSpPr>
        <p:spPr>
          <a:xfrm>
            <a:off x="457200" y="2880360"/>
            <a:ext cx="1463040" cy="457200"/>
          </a:xfrm>
          <a:prstGeom prst="rect">
            <a:avLst/>
          </a:prstGeom>
          <a:noFill/>
          <a:ln/>
        </p:spPr>
        <p:txBody>
          <a:bodyPr wrap="square" lIns="0" tIns="0" rIns="0" bIns="0" rtlCol="0" anchor="ctr"/>
          <a:lstStyle/>
          <a:p>
            <a:pPr algn="ctr" indent="0" marL="0">
              <a:buNone/>
            </a:pPr>
            <a:r>
              <a:rPr lang="en-US" sz="1200" b="1" dirty="0">
                <a:solidFill>
                  <a:schemeClr val="bg1"/>
                </a:solidFill>
              </a:rPr>
              <a:t>GitHub Actions</a:t>
            </a:r>
            <a:endParaRPr lang="en-US" sz="1200" dirty="0"/>
          </a:p>
        </p:txBody>
      </p:sp>
      <p:sp>
        <p:nvSpPr>
          <p:cNvPr id="9" name="a-ghcr"/>
          <p:cNvSpPr/>
          <p:nvPr/>
        </p:nvSpPr>
        <p:spPr>
          <a:xfrm>
            <a:off x="457200" y="3703320"/>
            <a:ext cx="1463040" cy="457200"/>
          </a:xfrm>
          <a:prstGeom prst="roundRect">
            <a:avLst>
              <a:gd name="adj" fmla="val 12000"/>
            </a:avLst>
          </a:prstGeom>
          <a:solidFill>
            <a:schemeClr val="tx2"/>
          </a:solidFill>
          <a:ln/>
        </p:spPr>
      </p:sp>
      <p:sp>
        <p:nvSpPr>
          <p:cNvPr id="10" name="a-ghcr-label"/>
          <p:cNvSpPr txBox="1"/>
          <p:nvPr/>
        </p:nvSpPr>
        <p:spPr>
          <a:xfrm>
            <a:off x="457200" y="3703320"/>
            <a:ext cx="1463040" cy="457200"/>
          </a:xfrm>
          <a:prstGeom prst="rect">
            <a:avLst/>
          </a:prstGeom>
          <a:noFill/>
          <a:ln/>
        </p:spPr>
        <p:txBody>
          <a:bodyPr wrap="square" lIns="0" tIns="0" rIns="0" bIns="0" rtlCol="0" anchor="ctr"/>
          <a:lstStyle/>
          <a:p>
            <a:pPr algn="ctr" indent="0" marL="0">
              <a:buNone/>
            </a:pPr>
            <a:r>
              <a:rPr lang="en-US" sz="1200" b="1" dirty="0">
                <a:solidFill>
                  <a:schemeClr val="bg1"/>
                </a:solidFill>
              </a:rPr>
              <a:t>GHCR</a:t>
            </a:r>
            <a:endParaRPr lang="en-US" sz="1200" dirty="0"/>
          </a:p>
        </p:txBody>
      </p:sp>
      <p:sp>
        <p:nvSpPr>
          <p:cNvPr id="11" name="ar1"/>
          <p:cNvSpPr/>
          <p:nvPr/>
        </p:nvSpPr>
        <p:spPr>
          <a:xfrm>
            <a:off x="1188720" y="1691640"/>
            <a:ext cx="914" cy="365760"/>
          </a:xfrm>
          <a:prstGeom prst="line">
            <a:avLst/>
          </a:prstGeom>
          <a:noFill/>
          <a:ln w="19050">
            <a:solidFill>
              <a:schemeClr val="accent4"/>
            </a:solidFill>
            <a:prstDash val="solid"/>
            <a:tailEnd type="triangle"/>
          </a:ln>
        </p:spPr>
      </p:sp>
      <p:sp>
        <p:nvSpPr>
          <p:cNvPr id="12" name="ar2"/>
          <p:cNvSpPr/>
          <p:nvPr/>
        </p:nvSpPr>
        <p:spPr>
          <a:xfrm>
            <a:off x="1188720" y="2514600"/>
            <a:ext cx="914" cy="365760"/>
          </a:xfrm>
          <a:prstGeom prst="line">
            <a:avLst/>
          </a:prstGeom>
          <a:noFill/>
          <a:ln w="19050">
            <a:solidFill>
              <a:schemeClr val="accent4"/>
            </a:solidFill>
            <a:prstDash val="solid"/>
            <a:tailEnd type="triangle"/>
          </a:ln>
        </p:spPr>
      </p:sp>
      <p:sp>
        <p:nvSpPr>
          <p:cNvPr id="13" name="ar3"/>
          <p:cNvSpPr/>
          <p:nvPr/>
        </p:nvSpPr>
        <p:spPr>
          <a:xfrm>
            <a:off x="1188720" y="3337560"/>
            <a:ext cx="914" cy="365760"/>
          </a:xfrm>
          <a:prstGeom prst="line">
            <a:avLst/>
          </a:prstGeom>
          <a:noFill/>
          <a:ln w="19050">
            <a:solidFill>
              <a:schemeClr val="accent4"/>
            </a:solidFill>
            <a:prstDash val="solid"/>
            <a:tailEnd type="triangle"/>
          </a:ln>
        </p:spPr>
      </p:sp>
      <p:sp>
        <p:nvSpPr>
          <p:cNvPr id="14" name="a-argo"/>
          <p:cNvSpPr/>
          <p:nvPr/>
        </p:nvSpPr>
        <p:spPr>
          <a:xfrm>
            <a:off x="2377440" y="2057400"/>
            <a:ext cx="1188720" cy="457200"/>
          </a:xfrm>
          <a:prstGeom prst="roundRect">
            <a:avLst>
              <a:gd name="adj" fmla="val 12000"/>
            </a:avLst>
          </a:prstGeom>
          <a:solidFill>
            <a:schemeClr val="accent2"/>
          </a:solidFill>
          <a:ln/>
        </p:spPr>
      </p:sp>
      <p:sp>
        <p:nvSpPr>
          <p:cNvPr id="15" name="a-argo-label"/>
          <p:cNvSpPr txBox="1"/>
          <p:nvPr/>
        </p:nvSpPr>
        <p:spPr>
          <a:xfrm>
            <a:off x="2377440" y="2057400"/>
            <a:ext cx="1188720" cy="457200"/>
          </a:xfrm>
          <a:prstGeom prst="rect">
            <a:avLst/>
          </a:prstGeom>
          <a:noFill/>
          <a:ln/>
        </p:spPr>
        <p:txBody>
          <a:bodyPr wrap="square" lIns="0" tIns="0" rIns="0" bIns="0" rtlCol="0" anchor="ctr"/>
          <a:lstStyle/>
          <a:p>
            <a:pPr algn="ctr" indent="0" marL="0">
              <a:buNone/>
            </a:pPr>
            <a:r>
              <a:rPr lang="en-US" sz="1200" b="1" dirty="0">
                <a:solidFill>
                  <a:schemeClr val="bg1"/>
                </a:solidFill>
              </a:rPr>
              <a:t>ArgoCD</a:t>
            </a:r>
            <a:endParaRPr lang="en-US" sz="1200" dirty="0"/>
          </a:p>
        </p:txBody>
      </p:sp>
      <p:sp>
        <p:nvSpPr>
          <p:cNvPr id="16" name="ar4"/>
          <p:cNvSpPr/>
          <p:nvPr/>
        </p:nvSpPr>
        <p:spPr>
          <a:xfrm>
            <a:off x="1920240" y="2286000"/>
            <a:ext cx="457200" cy="914"/>
          </a:xfrm>
          <a:prstGeom prst="line">
            <a:avLst/>
          </a:prstGeom>
          <a:noFill/>
          <a:ln w="19050">
            <a:solidFill>
              <a:schemeClr val="accent4"/>
            </a:solidFill>
            <a:prstDash val="solid"/>
            <a:tailEnd type="triangle"/>
          </a:ln>
        </p:spPr>
      </p:sp>
      <p:sp>
        <p:nvSpPr>
          <p:cNvPr id="17" name="a-tf"/>
          <p:cNvSpPr/>
          <p:nvPr/>
        </p:nvSpPr>
        <p:spPr>
          <a:xfrm>
            <a:off x="2377440" y="3703320"/>
            <a:ext cx="1188720" cy="457200"/>
          </a:xfrm>
          <a:prstGeom prst="roundRect">
            <a:avLst>
              <a:gd name="adj" fmla="val 12000"/>
            </a:avLst>
          </a:prstGeom>
          <a:solidFill>
            <a:schemeClr val="accent2"/>
          </a:solidFill>
          <a:ln/>
        </p:spPr>
      </p:sp>
      <p:sp>
        <p:nvSpPr>
          <p:cNvPr id="18" name="a-tf-label"/>
          <p:cNvSpPr txBox="1"/>
          <p:nvPr/>
        </p:nvSpPr>
        <p:spPr>
          <a:xfrm>
            <a:off x="2377440" y="3703320"/>
            <a:ext cx="1188720" cy="457200"/>
          </a:xfrm>
          <a:prstGeom prst="rect">
            <a:avLst/>
          </a:prstGeom>
          <a:noFill/>
          <a:ln/>
        </p:spPr>
        <p:txBody>
          <a:bodyPr wrap="square" lIns="0" tIns="0" rIns="0" bIns="0" rtlCol="0" anchor="ctr"/>
          <a:lstStyle/>
          <a:p>
            <a:pPr algn="ctr" indent="0" marL="0">
              <a:buNone/>
            </a:pPr>
            <a:r>
              <a:rPr lang="en-US" sz="1200" b="1" dirty="0">
                <a:solidFill>
                  <a:schemeClr val="bg1"/>
                </a:solidFill>
              </a:rPr>
              <a:t>Terraform</a:t>
            </a:r>
            <a:endParaRPr lang="en-US" sz="1200" dirty="0"/>
          </a:p>
        </p:txBody>
      </p:sp>
      <p:sp>
        <p:nvSpPr>
          <p:cNvPr id="19" name="eks-box"/>
          <p:cNvSpPr/>
          <p:nvPr/>
        </p:nvSpPr>
        <p:spPr>
          <a:xfrm>
            <a:off x="4023360" y="1143000"/>
            <a:ext cx="4663440" cy="3154680"/>
          </a:xfrm>
          <a:prstGeom prst="roundRect">
            <a:avLst>
              <a:gd name="adj" fmla="val 2319"/>
            </a:avLst>
          </a:prstGeom>
          <a:solidFill>
            <a:schemeClr val="bg2"/>
          </a:solidFill>
          <a:ln w="15875">
            <a:solidFill>
              <a:schemeClr val="accent1"/>
            </a:solidFill>
            <a:prstDash val="dash"/>
          </a:ln>
        </p:spPr>
      </p:sp>
      <p:sp>
        <p:nvSpPr>
          <p:cNvPr id="20" name="eks-label"/>
          <p:cNvSpPr txBox="1"/>
          <p:nvPr/>
        </p:nvSpPr>
        <p:spPr>
          <a:xfrm>
            <a:off x="4206240" y="1234440"/>
            <a:ext cx="4297680" cy="274320"/>
          </a:xfrm>
          <a:prstGeom prst="rect">
            <a:avLst/>
          </a:prstGeom>
          <a:noFill/>
          <a:ln/>
        </p:spPr>
        <p:txBody>
          <a:bodyPr wrap="square" lIns="0" tIns="0" rIns="0" bIns="0" rtlCol="0" anchor="t"/>
          <a:lstStyle/>
          <a:p>
            <a:pPr indent="0" marL="0">
              <a:buNone/>
            </a:pPr>
            <a:r>
              <a:rPr lang="en-US" sz="1200" b="1" dirty="0">
                <a:solidFill>
                  <a:schemeClr val="accent1"/>
                </a:solidFill>
              </a:rPr>
              <a:t>AWS EKS  ·  namespace stockroom</a:t>
            </a:r>
            <a:endParaRPr lang="en-US" sz="1200" dirty="0"/>
          </a:p>
        </p:txBody>
      </p:sp>
      <p:sp>
        <p:nvSpPr>
          <p:cNvPr id="21" name="ar5"/>
          <p:cNvSpPr/>
          <p:nvPr/>
        </p:nvSpPr>
        <p:spPr>
          <a:xfrm>
            <a:off x="3566160" y="2286000"/>
            <a:ext cx="457200" cy="914"/>
          </a:xfrm>
          <a:prstGeom prst="line">
            <a:avLst/>
          </a:prstGeom>
          <a:noFill/>
          <a:ln w="19050">
            <a:solidFill>
              <a:schemeClr val="accent4"/>
            </a:solidFill>
            <a:prstDash val="solid"/>
            <a:tailEnd type="triangle"/>
          </a:ln>
        </p:spPr>
      </p:sp>
      <p:sp>
        <p:nvSpPr>
          <p:cNvPr id="22" name="ar6"/>
          <p:cNvSpPr/>
          <p:nvPr/>
        </p:nvSpPr>
        <p:spPr>
          <a:xfrm>
            <a:off x="3566160" y="3931920"/>
            <a:ext cx="457200" cy="914"/>
          </a:xfrm>
          <a:prstGeom prst="line">
            <a:avLst/>
          </a:prstGeom>
          <a:noFill/>
          <a:ln w="19050">
            <a:solidFill>
              <a:schemeClr val="accent4"/>
            </a:solidFill>
            <a:prstDash val="solid"/>
            <a:tailEnd type="triangle"/>
          </a:ln>
        </p:spPr>
      </p:sp>
      <p:sp>
        <p:nvSpPr>
          <p:cNvPr id="23" name="k-ing"/>
          <p:cNvSpPr/>
          <p:nvPr/>
        </p:nvSpPr>
        <p:spPr>
          <a:xfrm>
            <a:off x="4206240" y="1645920"/>
            <a:ext cx="1280160" cy="457200"/>
          </a:xfrm>
          <a:prstGeom prst="roundRect">
            <a:avLst>
              <a:gd name="adj" fmla="val 12000"/>
            </a:avLst>
          </a:prstGeom>
          <a:solidFill>
            <a:schemeClr val="accent1"/>
          </a:solidFill>
          <a:ln/>
        </p:spPr>
      </p:sp>
      <p:sp>
        <p:nvSpPr>
          <p:cNvPr id="24" name="k-ing-label"/>
          <p:cNvSpPr txBox="1"/>
          <p:nvPr/>
        </p:nvSpPr>
        <p:spPr>
          <a:xfrm>
            <a:off x="4206240" y="1645920"/>
            <a:ext cx="1280160" cy="457200"/>
          </a:xfrm>
          <a:prstGeom prst="rect">
            <a:avLst/>
          </a:prstGeom>
          <a:noFill/>
          <a:ln/>
        </p:spPr>
        <p:txBody>
          <a:bodyPr wrap="square" lIns="0" tIns="0" rIns="0" bIns="0" rtlCol="0" anchor="ctr"/>
          <a:lstStyle/>
          <a:p>
            <a:pPr algn="ctr" indent="0" marL="0">
              <a:buNone/>
            </a:pPr>
            <a:r>
              <a:rPr lang="en-US" sz="1200" b="1" dirty="0">
                <a:solidFill>
                  <a:schemeClr val="bg1"/>
                </a:solidFill>
              </a:rPr>
              <a:t>ingress-nginx</a:t>
            </a:r>
            <a:endParaRPr lang="en-US" sz="1200" dirty="0"/>
          </a:p>
        </p:txBody>
      </p:sp>
      <p:sp>
        <p:nvSpPr>
          <p:cNvPr id="25" name="k-fe"/>
          <p:cNvSpPr/>
          <p:nvPr/>
        </p:nvSpPr>
        <p:spPr>
          <a:xfrm>
            <a:off x="5760720" y="1645920"/>
            <a:ext cx="1280160" cy="457200"/>
          </a:xfrm>
          <a:prstGeom prst="roundRect">
            <a:avLst>
              <a:gd name="adj" fmla="val 12000"/>
            </a:avLst>
          </a:prstGeom>
          <a:solidFill>
            <a:schemeClr val="accent1"/>
          </a:solidFill>
          <a:ln/>
        </p:spPr>
      </p:sp>
      <p:sp>
        <p:nvSpPr>
          <p:cNvPr id="26" name="k-fe-label"/>
          <p:cNvSpPr txBox="1"/>
          <p:nvPr/>
        </p:nvSpPr>
        <p:spPr>
          <a:xfrm>
            <a:off x="5760720" y="1645920"/>
            <a:ext cx="1280160" cy="457200"/>
          </a:xfrm>
          <a:prstGeom prst="rect">
            <a:avLst/>
          </a:prstGeom>
          <a:noFill/>
          <a:ln/>
        </p:spPr>
        <p:txBody>
          <a:bodyPr wrap="square" lIns="0" tIns="0" rIns="0" bIns="0" rtlCol="0" anchor="ctr"/>
          <a:lstStyle/>
          <a:p>
            <a:pPr algn="ctr" indent="0" marL="0">
              <a:buNone/>
            </a:pPr>
            <a:r>
              <a:rPr lang="en-US" sz="1200" b="1" dirty="0">
                <a:solidFill>
                  <a:schemeClr val="bg1"/>
                </a:solidFill>
              </a:rPr>
              <a:t>frontend x2</a:t>
            </a:r>
            <a:endParaRPr lang="en-US" sz="1200" dirty="0"/>
          </a:p>
        </p:txBody>
      </p:sp>
      <p:sp>
        <p:nvSpPr>
          <p:cNvPr id="27" name="k-be"/>
          <p:cNvSpPr/>
          <p:nvPr/>
        </p:nvSpPr>
        <p:spPr>
          <a:xfrm>
            <a:off x="5760720" y="2514600"/>
            <a:ext cx="1280160" cy="457200"/>
          </a:xfrm>
          <a:prstGeom prst="roundRect">
            <a:avLst>
              <a:gd name="adj" fmla="val 12000"/>
            </a:avLst>
          </a:prstGeom>
          <a:solidFill>
            <a:schemeClr val="accent1"/>
          </a:solidFill>
          <a:ln/>
        </p:spPr>
      </p:sp>
      <p:sp>
        <p:nvSpPr>
          <p:cNvPr id="28" name="k-be-label"/>
          <p:cNvSpPr txBox="1"/>
          <p:nvPr/>
        </p:nvSpPr>
        <p:spPr>
          <a:xfrm>
            <a:off x="5760720" y="2514600"/>
            <a:ext cx="1280160" cy="457200"/>
          </a:xfrm>
          <a:prstGeom prst="rect">
            <a:avLst/>
          </a:prstGeom>
          <a:noFill/>
          <a:ln/>
        </p:spPr>
        <p:txBody>
          <a:bodyPr wrap="square" lIns="0" tIns="0" rIns="0" bIns="0" rtlCol="0" anchor="ctr"/>
          <a:lstStyle/>
          <a:p>
            <a:pPr algn="ctr" indent="0" marL="0">
              <a:buNone/>
            </a:pPr>
            <a:r>
              <a:rPr lang="en-US" sz="1200" b="1" dirty="0">
                <a:solidFill>
                  <a:schemeClr val="bg1"/>
                </a:solidFill>
              </a:rPr>
              <a:t>backend x2-6</a:t>
            </a:r>
            <a:endParaRPr lang="en-US" sz="1200" dirty="0"/>
          </a:p>
        </p:txBody>
      </p:sp>
      <p:sp>
        <p:nvSpPr>
          <p:cNvPr id="29" name="k-pg"/>
          <p:cNvSpPr/>
          <p:nvPr/>
        </p:nvSpPr>
        <p:spPr>
          <a:xfrm>
            <a:off x="7315200" y="2514600"/>
            <a:ext cx="1188720" cy="457200"/>
          </a:xfrm>
          <a:prstGeom prst="roundRect">
            <a:avLst>
              <a:gd name="adj" fmla="val 12000"/>
            </a:avLst>
          </a:prstGeom>
          <a:solidFill>
            <a:schemeClr val="tx2"/>
          </a:solidFill>
          <a:ln/>
        </p:spPr>
      </p:sp>
      <p:sp>
        <p:nvSpPr>
          <p:cNvPr id="30" name="k-pg-label"/>
          <p:cNvSpPr txBox="1"/>
          <p:nvPr/>
        </p:nvSpPr>
        <p:spPr>
          <a:xfrm>
            <a:off x="7315200" y="2514600"/>
            <a:ext cx="1188720" cy="457200"/>
          </a:xfrm>
          <a:prstGeom prst="rect">
            <a:avLst/>
          </a:prstGeom>
          <a:noFill/>
          <a:ln/>
        </p:spPr>
        <p:txBody>
          <a:bodyPr wrap="square" lIns="0" tIns="0" rIns="0" bIns="0" rtlCol="0" anchor="ctr"/>
          <a:lstStyle/>
          <a:p>
            <a:pPr algn="ctr" indent="0" marL="0">
              <a:buNone/>
            </a:pPr>
            <a:r>
              <a:rPr lang="en-US" sz="1200" b="1" dirty="0">
                <a:solidFill>
                  <a:schemeClr val="bg1"/>
                </a:solidFill>
              </a:rPr>
              <a:t>Postgres</a:t>
            </a:r>
            <a:endParaRPr lang="en-US" sz="1200" dirty="0"/>
          </a:p>
        </p:txBody>
      </p:sp>
      <p:sp>
        <p:nvSpPr>
          <p:cNvPr id="31" name="k-prom"/>
          <p:cNvSpPr/>
          <p:nvPr/>
        </p:nvSpPr>
        <p:spPr>
          <a:xfrm>
            <a:off x="5760720" y="3520440"/>
            <a:ext cx="1280160" cy="457200"/>
          </a:xfrm>
          <a:prstGeom prst="roundRect">
            <a:avLst>
              <a:gd name="adj" fmla="val 12000"/>
            </a:avLst>
          </a:prstGeom>
          <a:solidFill>
            <a:schemeClr val="accent2"/>
          </a:solidFill>
          <a:ln/>
        </p:spPr>
      </p:sp>
      <p:sp>
        <p:nvSpPr>
          <p:cNvPr id="32" name="k-prom-label"/>
          <p:cNvSpPr txBox="1"/>
          <p:nvPr/>
        </p:nvSpPr>
        <p:spPr>
          <a:xfrm>
            <a:off x="5760720" y="3520440"/>
            <a:ext cx="1280160" cy="457200"/>
          </a:xfrm>
          <a:prstGeom prst="rect">
            <a:avLst/>
          </a:prstGeom>
          <a:noFill/>
          <a:ln/>
        </p:spPr>
        <p:txBody>
          <a:bodyPr wrap="square" lIns="0" tIns="0" rIns="0" bIns="0" rtlCol="0" anchor="ctr"/>
          <a:lstStyle/>
          <a:p>
            <a:pPr algn="ctr" indent="0" marL="0">
              <a:buNone/>
            </a:pPr>
            <a:r>
              <a:rPr lang="en-US" sz="1200" b="1" dirty="0">
                <a:solidFill>
                  <a:schemeClr val="bg1"/>
                </a:solidFill>
              </a:rPr>
              <a:t>Prometheus</a:t>
            </a:r>
            <a:endParaRPr lang="en-US" sz="1200" dirty="0"/>
          </a:p>
        </p:txBody>
      </p:sp>
      <p:sp>
        <p:nvSpPr>
          <p:cNvPr id="33" name="k-graf"/>
          <p:cNvSpPr/>
          <p:nvPr/>
        </p:nvSpPr>
        <p:spPr>
          <a:xfrm>
            <a:off x="7315200" y="3520440"/>
            <a:ext cx="1188720" cy="457200"/>
          </a:xfrm>
          <a:prstGeom prst="roundRect">
            <a:avLst>
              <a:gd name="adj" fmla="val 12000"/>
            </a:avLst>
          </a:prstGeom>
          <a:solidFill>
            <a:schemeClr val="accent2"/>
          </a:solidFill>
          <a:ln/>
        </p:spPr>
      </p:sp>
      <p:sp>
        <p:nvSpPr>
          <p:cNvPr id="34" name="k-graf-label"/>
          <p:cNvSpPr txBox="1"/>
          <p:nvPr/>
        </p:nvSpPr>
        <p:spPr>
          <a:xfrm>
            <a:off x="7315200" y="3520440"/>
            <a:ext cx="1188720" cy="457200"/>
          </a:xfrm>
          <a:prstGeom prst="rect">
            <a:avLst/>
          </a:prstGeom>
          <a:noFill/>
          <a:ln/>
        </p:spPr>
        <p:txBody>
          <a:bodyPr wrap="square" lIns="0" tIns="0" rIns="0" bIns="0" rtlCol="0" anchor="ctr"/>
          <a:lstStyle/>
          <a:p>
            <a:pPr algn="ctr" indent="0" marL="0">
              <a:buNone/>
            </a:pPr>
            <a:r>
              <a:rPr lang="en-US" sz="1200" b="1" dirty="0">
                <a:solidFill>
                  <a:schemeClr val="bg1"/>
                </a:solidFill>
              </a:rPr>
              <a:t>Grafana</a:t>
            </a:r>
            <a:endParaRPr lang="en-US" sz="1200" dirty="0"/>
          </a:p>
        </p:txBody>
      </p:sp>
      <p:sp>
        <p:nvSpPr>
          <p:cNvPr id="35" name="k1"/>
          <p:cNvSpPr/>
          <p:nvPr/>
        </p:nvSpPr>
        <p:spPr>
          <a:xfrm>
            <a:off x="5486400" y="1874520"/>
            <a:ext cx="274320" cy="914"/>
          </a:xfrm>
          <a:prstGeom prst="line">
            <a:avLst/>
          </a:prstGeom>
          <a:noFill/>
          <a:ln w="19050">
            <a:solidFill>
              <a:schemeClr val="accent4"/>
            </a:solidFill>
            <a:prstDash val="solid"/>
            <a:tailEnd type="triangle"/>
          </a:ln>
        </p:spPr>
      </p:sp>
      <p:sp>
        <p:nvSpPr>
          <p:cNvPr id="36" name="k2"/>
          <p:cNvSpPr/>
          <p:nvPr/>
        </p:nvSpPr>
        <p:spPr>
          <a:xfrm>
            <a:off x="4846320" y="2103120"/>
            <a:ext cx="914400" cy="640080"/>
          </a:xfrm>
          <a:prstGeom prst="line">
            <a:avLst/>
          </a:prstGeom>
          <a:noFill/>
          <a:ln w="19050">
            <a:solidFill>
              <a:schemeClr val="accent4"/>
            </a:solidFill>
            <a:prstDash val="solid"/>
            <a:tailEnd type="triangle"/>
          </a:ln>
        </p:spPr>
      </p:sp>
      <p:sp>
        <p:nvSpPr>
          <p:cNvPr id="37" name="k3"/>
          <p:cNvSpPr/>
          <p:nvPr/>
        </p:nvSpPr>
        <p:spPr>
          <a:xfrm>
            <a:off x="7040880" y="2743200"/>
            <a:ext cx="274320" cy="914"/>
          </a:xfrm>
          <a:prstGeom prst="line">
            <a:avLst/>
          </a:prstGeom>
          <a:noFill/>
          <a:ln w="19050">
            <a:solidFill>
              <a:schemeClr val="accent4"/>
            </a:solidFill>
            <a:prstDash val="solid"/>
            <a:tailEnd type="triangle"/>
          </a:ln>
        </p:spPr>
      </p:sp>
      <p:sp>
        <p:nvSpPr>
          <p:cNvPr id="38" name="k4"/>
          <p:cNvSpPr/>
          <p:nvPr/>
        </p:nvSpPr>
        <p:spPr>
          <a:xfrm flipV="1">
            <a:off x="6400800" y="2971800"/>
            <a:ext cx="914" cy="548640"/>
          </a:xfrm>
          <a:prstGeom prst="line">
            <a:avLst/>
          </a:prstGeom>
          <a:noFill/>
          <a:ln w="19050">
            <a:solidFill>
              <a:schemeClr val="accent4"/>
            </a:solidFill>
            <a:prstDash val="solid"/>
            <a:tailEnd type="triangle"/>
          </a:ln>
        </p:spPr>
      </p:sp>
      <p:sp>
        <p:nvSpPr>
          <p:cNvPr id="39" name="k5"/>
          <p:cNvSpPr/>
          <p:nvPr/>
        </p:nvSpPr>
        <p:spPr>
          <a:xfrm flipH="1">
            <a:off x="7040880" y="3749040"/>
            <a:ext cx="274320" cy="914"/>
          </a:xfrm>
          <a:prstGeom prst="line">
            <a:avLst/>
          </a:prstGeom>
          <a:noFill/>
          <a:ln w="19050">
            <a:solidFill>
              <a:schemeClr val="accent4"/>
            </a:solidFill>
            <a:prstDash val="solid"/>
            <a:tailEnd type="triangle"/>
          </a:ln>
        </p:spPr>
      </p:sp>
      <p:sp>
        <p:nvSpPr>
          <p:cNvPr id="40" name="arch-caption"/>
          <p:cNvSpPr txBox="1"/>
          <p:nvPr/>
        </p:nvSpPr>
        <p:spPr>
          <a:xfrm>
            <a:off x="4023360" y="4389120"/>
            <a:ext cx="4663440" cy="274320"/>
          </a:xfrm>
          <a:prstGeom prst="rect">
            <a:avLst/>
          </a:prstGeom>
          <a:noFill/>
          <a:ln/>
        </p:spPr>
        <p:txBody>
          <a:bodyPr wrap="square" lIns="0" tIns="0" rIns="0" bIns="0" rtlCol="0" anchor="t"/>
          <a:lstStyle/>
          <a:p>
            <a:pPr indent="0" marL="0">
              <a:buNone/>
            </a:pPr>
            <a:r>
              <a:rPr lang="en-US" sz="1100" dirty="0">
                <a:solidFill>
                  <a:schemeClr val="accent4"/>
                </a:solidFill>
              </a:rPr>
              <a:t>/ goes to frontend, /api goes to backend. Prometheus scrapes /metrics.</a:t>
            </a:r>
            <a:endParaRPr lang="en-US" sz="11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CI/CD pipeline</a:t>
            </a:r>
            <a:endParaRPr lang="en-US" sz="3000" dirty="0"/>
          </a:p>
        </p:txBody>
      </p:sp>
      <p:sp>
        <p:nvSpPr>
          <p:cNvPr id="3" name="step-card-0"/>
          <p:cNvSpPr/>
          <p:nvPr/>
        </p:nvSpPr>
        <p:spPr>
          <a:xfrm>
            <a:off x="457200" y="1371600"/>
            <a:ext cx="1261872" cy="1920240"/>
          </a:xfrm>
          <a:prstGeom prst="roundRect">
            <a:avLst>
              <a:gd name="adj" fmla="val 5797"/>
            </a:avLst>
          </a:prstGeom>
          <a:solidFill>
            <a:schemeClr val="bg2"/>
          </a:solidFill>
          <a:ln/>
        </p:spPr>
      </p:sp>
      <p:sp>
        <p:nvSpPr>
          <p:cNvPr id="4" name="step-n-0"/>
          <p:cNvSpPr txBox="1"/>
          <p:nvPr/>
        </p:nvSpPr>
        <p:spPr>
          <a:xfrm>
            <a:off x="594360" y="1508760"/>
            <a:ext cx="548640" cy="502920"/>
          </a:xfrm>
          <a:prstGeom prst="rect">
            <a:avLst/>
          </a:prstGeom>
          <a:noFill/>
          <a:ln/>
        </p:spPr>
        <p:txBody>
          <a:bodyPr wrap="square" lIns="0" tIns="0" rIns="0" bIns="0" rtlCol="0" anchor="t"/>
          <a:lstStyle/>
          <a:p>
            <a:pPr indent="0" marL="0">
              <a:buNone/>
            </a:pPr>
            <a:r>
              <a:rPr lang="en-US" sz="3200" b="1" dirty="0">
                <a:solidFill>
                  <a:schemeClr val="accent1"/>
                </a:solidFill>
                <a:latin typeface="Cambria" pitchFamily="34" charset="0"/>
                <a:ea typeface="Cambria" pitchFamily="34" charset="-122"/>
                <a:cs typeface="Cambria" pitchFamily="34" charset="-120"/>
              </a:rPr>
              <a:t>1</a:t>
            </a:r>
            <a:endParaRPr lang="en-US" sz="3200" dirty="0"/>
          </a:p>
        </p:txBody>
      </p:sp>
      <p:sp>
        <p:nvSpPr>
          <p:cNvPr id="5" name="step-h-0"/>
          <p:cNvSpPr txBox="1"/>
          <p:nvPr/>
        </p:nvSpPr>
        <p:spPr>
          <a:xfrm>
            <a:off x="594360" y="2103120"/>
            <a:ext cx="987552" cy="320040"/>
          </a:xfrm>
          <a:prstGeom prst="rect">
            <a:avLst/>
          </a:prstGeom>
          <a:noFill/>
          <a:ln/>
        </p:spPr>
        <p:txBody>
          <a:bodyPr wrap="square" lIns="0" tIns="0" rIns="0" bIns="0" rtlCol="0" anchor="t"/>
          <a:lstStyle/>
          <a:p>
            <a:pPr indent="0" marL="0">
              <a:buNone/>
            </a:pPr>
            <a:r>
              <a:rPr lang="en-US" sz="1600" b="1" dirty="0">
                <a:solidFill>
                  <a:schemeClr val="tx2"/>
                </a:solidFill>
              </a:rPr>
              <a:t>Test</a:t>
            </a:r>
            <a:endParaRPr lang="en-US" sz="1600" dirty="0"/>
          </a:p>
        </p:txBody>
      </p:sp>
      <p:sp>
        <p:nvSpPr>
          <p:cNvPr id="6" name="step-b-0"/>
          <p:cNvSpPr txBox="1"/>
          <p:nvPr/>
        </p:nvSpPr>
        <p:spPr>
          <a:xfrm>
            <a:off x="594360" y="2423160"/>
            <a:ext cx="987552" cy="777240"/>
          </a:xfrm>
          <a:prstGeom prst="rect">
            <a:avLst/>
          </a:prstGeom>
          <a:noFill/>
          <a:ln/>
        </p:spPr>
        <p:txBody>
          <a:bodyPr wrap="square" lIns="0" tIns="0" rIns="0" bIns="0" rtlCol="0" anchor="t"/>
          <a:lstStyle/>
          <a:p>
            <a:pPr indent="0" marL="0">
              <a:buNone/>
            </a:pPr>
            <a:r>
              <a:rPr lang="en-US" sz="1200" dirty="0">
                <a:solidFill>
                  <a:schemeClr val="accent4"/>
                </a:solidFill>
              </a:rPr>
              <a:t>ruff, pytest -v, npm build</a:t>
            </a:r>
            <a:endParaRPr lang="en-US" sz="1200" dirty="0"/>
          </a:p>
        </p:txBody>
      </p:sp>
      <p:sp>
        <p:nvSpPr>
          <p:cNvPr id="7" name="step-card-1"/>
          <p:cNvSpPr/>
          <p:nvPr/>
        </p:nvSpPr>
        <p:spPr>
          <a:xfrm>
            <a:off x="1856232" y="1371600"/>
            <a:ext cx="1261872" cy="1920240"/>
          </a:xfrm>
          <a:prstGeom prst="roundRect">
            <a:avLst>
              <a:gd name="adj" fmla="val 5797"/>
            </a:avLst>
          </a:prstGeom>
          <a:solidFill>
            <a:schemeClr val="bg2"/>
          </a:solidFill>
          <a:ln/>
        </p:spPr>
      </p:sp>
      <p:sp>
        <p:nvSpPr>
          <p:cNvPr id="8" name="step-n-1"/>
          <p:cNvSpPr txBox="1"/>
          <p:nvPr/>
        </p:nvSpPr>
        <p:spPr>
          <a:xfrm>
            <a:off x="1993392" y="1508760"/>
            <a:ext cx="548640" cy="502920"/>
          </a:xfrm>
          <a:prstGeom prst="rect">
            <a:avLst/>
          </a:prstGeom>
          <a:noFill/>
          <a:ln/>
        </p:spPr>
        <p:txBody>
          <a:bodyPr wrap="square" lIns="0" tIns="0" rIns="0" bIns="0" rtlCol="0" anchor="t"/>
          <a:lstStyle/>
          <a:p>
            <a:pPr indent="0" marL="0">
              <a:buNone/>
            </a:pPr>
            <a:r>
              <a:rPr lang="en-US" sz="3200" b="1" dirty="0">
                <a:solidFill>
                  <a:schemeClr val="accent1"/>
                </a:solidFill>
                <a:latin typeface="Cambria" pitchFamily="34" charset="0"/>
                <a:ea typeface="Cambria" pitchFamily="34" charset="-122"/>
                <a:cs typeface="Cambria" pitchFamily="34" charset="-120"/>
              </a:rPr>
              <a:t>2</a:t>
            </a:r>
            <a:endParaRPr lang="en-US" sz="3200" dirty="0"/>
          </a:p>
        </p:txBody>
      </p:sp>
      <p:sp>
        <p:nvSpPr>
          <p:cNvPr id="9" name="step-h-1"/>
          <p:cNvSpPr txBox="1"/>
          <p:nvPr/>
        </p:nvSpPr>
        <p:spPr>
          <a:xfrm>
            <a:off x="1993392" y="2103120"/>
            <a:ext cx="987552" cy="320040"/>
          </a:xfrm>
          <a:prstGeom prst="rect">
            <a:avLst/>
          </a:prstGeom>
          <a:noFill/>
          <a:ln/>
        </p:spPr>
        <p:txBody>
          <a:bodyPr wrap="square" lIns="0" tIns="0" rIns="0" bIns="0" rtlCol="0" anchor="t"/>
          <a:lstStyle/>
          <a:p>
            <a:pPr indent="0" marL="0">
              <a:buNone/>
            </a:pPr>
            <a:r>
              <a:rPr lang="en-US" sz="1600" b="1" dirty="0">
                <a:solidFill>
                  <a:schemeClr val="tx2"/>
                </a:solidFill>
              </a:rPr>
              <a:t>Build</a:t>
            </a:r>
            <a:endParaRPr lang="en-US" sz="1600" dirty="0"/>
          </a:p>
        </p:txBody>
      </p:sp>
      <p:sp>
        <p:nvSpPr>
          <p:cNvPr id="10" name="step-b-1"/>
          <p:cNvSpPr txBox="1"/>
          <p:nvPr/>
        </p:nvSpPr>
        <p:spPr>
          <a:xfrm>
            <a:off x="1993392" y="2423160"/>
            <a:ext cx="987552" cy="777240"/>
          </a:xfrm>
          <a:prstGeom prst="rect">
            <a:avLst/>
          </a:prstGeom>
          <a:noFill/>
          <a:ln/>
        </p:spPr>
        <p:txBody>
          <a:bodyPr wrap="square" lIns="0" tIns="0" rIns="0" bIns="0" rtlCol="0" anchor="t"/>
          <a:lstStyle/>
          <a:p>
            <a:pPr indent="0" marL="0">
              <a:buNone/>
            </a:pPr>
            <a:r>
              <a:rPr lang="en-US" sz="1200" dirty="0">
                <a:solidFill>
                  <a:schemeClr val="accent4"/>
                </a:solidFill>
              </a:rPr>
              <a:t>both images, tagged with commit SHA</a:t>
            </a:r>
            <a:endParaRPr lang="en-US" sz="1200" dirty="0"/>
          </a:p>
        </p:txBody>
      </p:sp>
      <p:sp>
        <p:nvSpPr>
          <p:cNvPr id="11" name="step-card-2"/>
          <p:cNvSpPr/>
          <p:nvPr/>
        </p:nvSpPr>
        <p:spPr>
          <a:xfrm>
            <a:off x="3255264" y="1371600"/>
            <a:ext cx="1261872" cy="1920240"/>
          </a:xfrm>
          <a:prstGeom prst="roundRect">
            <a:avLst>
              <a:gd name="adj" fmla="val 5797"/>
            </a:avLst>
          </a:prstGeom>
          <a:solidFill>
            <a:schemeClr val="bg2"/>
          </a:solidFill>
          <a:ln/>
        </p:spPr>
      </p:sp>
      <p:sp>
        <p:nvSpPr>
          <p:cNvPr id="12" name="step-n-2"/>
          <p:cNvSpPr txBox="1"/>
          <p:nvPr/>
        </p:nvSpPr>
        <p:spPr>
          <a:xfrm>
            <a:off x="3392424" y="1508760"/>
            <a:ext cx="548640" cy="502920"/>
          </a:xfrm>
          <a:prstGeom prst="rect">
            <a:avLst/>
          </a:prstGeom>
          <a:noFill/>
          <a:ln/>
        </p:spPr>
        <p:txBody>
          <a:bodyPr wrap="square" lIns="0" tIns="0" rIns="0" bIns="0" rtlCol="0" anchor="t"/>
          <a:lstStyle/>
          <a:p>
            <a:pPr indent="0" marL="0">
              <a:buNone/>
            </a:pPr>
            <a:r>
              <a:rPr lang="en-US" sz="3200" b="1" dirty="0">
                <a:solidFill>
                  <a:schemeClr val="accent1"/>
                </a:solidFill>
                <a:latin typeface="Cambria" pitchFamily="34" charset="0"/>
                <a:ea typeface="Cambria" pitchFamily="34" charset="-122"/>
                <a:cs typeface="Cambria" pitchFamily="34" charset="-120"/>
              </a:rPr>
              <a:t>3</a:t>
            </a:r>
            <a:endParaRPr lang="en-US" sz="3200" dirty="0"/>
          </a:p>
        </p:txBody>
      </p:sp>
      <p:sp>
        <p:nvSpPr>
          <p:cNvPr id="13" name="step-h-2"/>
          <p:cNvSpPr txBox="1"/>
          <p:nvPr/>
        </p:nvSpPr>
        <p:spPr>
          <a:xfrm>
            <a:off x="3392424" y="2103120"/>
            <a:ext cx="987552" cy="320040"/>
          </a:xfrm>
          <a:prstGeom prst="rect">
            <a:avLst/>
          </a:prstGeom>
          <a:noFill/>
          <a:ln/>
        </p:spPr>
        <p:txBody>
          <a:bodyPr wrap="square" lIns="0" tIns="0" rIns="0" bIns="0" rtlCol="0" anchor="t"/>
          <a:lstStyle/>
          <a:p>
            <a:pPr indent="0" marL="0">
              <a:buNone/>
            </a:pPr>
            <a:r>
              <a:rPr lang="en-US" sz="1600" b="1" dirty="0">
                <a:solidFill>
                  <a:schemeClr val="tx2"/>
                </a:solidFill>
              </a:rPr>
              <a:t>Scan</a:t>
            </a:r>
            <a:endParaRPr lang="en-US" sz="1600" dirty="0"/>
          </a:p>
        </p:txBody>
      </p:sp>
      <p:sp>
        <p:nvSpPr>
          <p:cNvPr id="14" name="step-b-2"/>
          <p:cNvSpPr txBox="1"/>
          <p:nvPr/>
        </p:nvSpPr>
        <p:spPr>
          <a:xfrm>
            <a:off x="3392424" y="2423160"/>
            <a:ext cx="987552" cy="777240"/>
          </a:xfrm>
          <a:prstGeom prst="rect">
            <a:avLst/>
          </a:prstGeom>
          <a:noFill/>
          <a:ln/>
        </p:spPr>
        <p:txBody>
          <a:bodyPr wrap="square" lIns="0" tIns="0" rIns="0" bIns="0" rtlCol="0" anchor="t"/>
          <a:lstStyle/>
          <a:p>
            <a:pPr indent="0" marL="0">
              <a:buNone/>
            </a:pPr>
            <a:r>
              <a:rPr lang="en-US" sz="1200" dirty="0">
                <a:solidFill>
                  <a:schemeClr val="accent4"/>
                </a:solidFill>
              </a:rPr>
              <a:t>Trivy, fails on HIGH or CRITICAL</a:t>
            </a:r>
            <a:endParaRPr lang="en-US" sz="1200" dirty="0"/>
          </a:p>
        </p:txBody>
      </p:sp>
      <p:sp>
        <p:nvSpPr>
          <p:cNvPr id="15" name="step-card-3"/>
          <p:cNvSpPr/>
          <p:nvPr/>
        </p:nvSpPr>
        <p:spPr>
          <a:xfrm>
            <a:off x="4654296" y="1371600"/>
            <a:ext cx="1261872" cy="1920240"/>
          </a:xfrm>
          <a:prstGeom prst="roundRect">
            <a:avLst>
              <a:gd name="adj" fmla="val 5797"/>
            </a:avLst>
          </a:prstGeom>
          <a:solidFill>
            <a:schemeClr val="bg2"/>
          </a:solidFill>
          <a:ln/>
        </p:spPr>
      </p:sp>
      <p:sp>
        <p:nvSpPr>
          <p:cNvPr id="16" name="step-n-3"/>
          <p:cNvSpPr txBox="1"/>
          <p:nvPr/>
        </p:nvSpPr>
        <p:spPr>
          <a:xfrm>
            <a:off x="4791456" y="1508760"/>
            <a:ext cx="548640" cy="502920"/>
          </a:xfrm>
          <a:prstGeom prst="rect">
            <a:avLst/>
          </a:prstGeom>
          <a:noFill/>
          <a:ln/>
        </p:spPr>
        <p:txBody>
          <a:bodyPr wrap="square" lIns="0" tIns="0" rIns="0" bIns="0" rtlCol="0" anchor="t"/>
          <a:lstStyle/>
          <a:p>
            <a:pPr indent="0" marL="0">
              <a:buNone/>
            </a:pPr>
            <a:r>
              <a:rPr lang="en-US" sz="3200" b="1" dirty="0">
                <a:solidFill>
                  <a:schemeClr val="accent1"/>
                </a:solidFill>
                <a:latin typeface="Cambria" pitchFamily="34" charset="0"/>
                <a:ea typeface="Cambria" pitchFamily="34" charset="-122"/>
                <a:cs typeface="Cambria" pitchFamily="34" charset="-120"/>
              </a:rPr>
              <a:t>4</a:t>
            </a:r>
            <a:endParaRPr lang="en-US" sz="3200" dirty="0"/>
          </a:p>
        </p:txBody>
      </p:sp>
      <p:sp>
        <p:nvSpPr>
          <p:cNvPr id="17" name="step-h-3"/>
          <p:cNvSpPr txBox="1"/>
          <p:nvPr/>
        </p:nvSpPr>
        <p:spPr>
          <a:xfrm>
            <a:off x="4791456" y="2103120"/>
            <a:ext cx="987552" cy="320040"/>
          </a:xfrm>
          <a:prstGeom prst="rect">
            <a:avLst/>
          </a:prstGeom>
          <a:noFill/>
          <a:ln/>
        </p:spPr>
        <p:txBody>
          <a:bodyPr wrap="square" lIns="0" tIns="0" rIns="0" bIns="0" rtlCol="0" anchor="t"/>
          <a:lstStyle/>
          <a:p>
            <a:pPr indent="0" marL="0">
              <a:buNone/>
            </a:pPr>
            <a:r>
              <a:rPr lang="en-US" sz="1600" b="1" dirty="0">
                <a:solidFill>
                  <a:schemeClr val="tx2"/>
                </a:solidFill>
              </a:rPr>
              <a:t>Push</a:t>
            </a:r>
            <a:endParaRPr lang="en-US" sz="1600" dirty="0"/>
          </a:p>
        </p:txBody>
      </p:sp>
      <p:sp>
        <p:nvSpPr>
          <p:cNvPr id="18" name="step-b-3"/>
          <p:cNvSpPr txBox="1"/>
          <p:nvPr/>
        </p:nvSpPr>
        <p:spPr>
          <a:xfrm>
            <a:off x="4791456" y="2423160"/>
            <a:ext cx="987552" cy="777240"/>
          </a:xfrm>
          <a:prstGeom prst="rect">
            <a:avLst/>
          </a:prstGeom>
          <a:noFill/>
          <a:ln/>
        </p:spPr>
        <p:txBody>
          <a:bodyPr wrap="square" lIns="0" tIns="0" rIns="0" bIns="0" rtlCol="0" anchor="t"/>
          <a:lstStyle/>
          <a:p>
            <a:pPr indent="0" marL="0">
              <a:buNone/>
            </a:pPr>
            <a:r>
              <a:rPr lang="en-US" sz="1200" dirty="0">
                <a:solidFill>
                  <a:schemeClr val="accent4"/>
                </a:solidFill>
              </a:rPr>
              <a:t>ghcr.io/u7k4rs6/stockroom-*</a:t>
            </a:r>
            <a:endParaRPr lang="en-US" sz="1200" dirty="0"/>
          </a:p>
        </p:txBody>
      </p:sp>
      <p:sp>
        <p:nvSpPr>
          <p:cNvPr id="19" name="step-card-4"/>
          <p:cNvSpPr/>
          <p:nvPr/>
        </p:nvSpPr>
        <p:spPr>
          <a:xfrm>
            <a:off x="6053328" y="1371600"/>
            <a:ext cx="1261872" cy="1920240"/>
          </a:xfrm>
          <a:prstGeom prst="roundRect">
            <a:avLst>
              <a:gd name="adj" fmla="val 5797"/>
            </a:avLst>
          </a:prstGeom>
          <a:solidFill>
            <a:schemeClr val="accent3"/>
          </a:solidFill>
          <a:ln/>
        </p:spPr>
      </p:sp>
      <p:sp>
        <p:nvSpPr>
          <p:cNvPr id="20" name="step-n-4"/>
          <p:cNvSpPr txBox="1"/>
          <p:nvPr/>
        </p:nvSpPr>
        <p:spPr>
          <a:xfrm>
            <a:off x="6190488" y="1508760"/>
            <a:ext cx="548640" cy="502920"/>
          </a:xfrm>
          <a:prstGeom prst="rect">
            <a:avLst/>
          </a:prstGeom>
          <a:noFill/>
          <a:ln/>
        </p:spPr>
        <p:txBody>
          <a:bodyPr wrap="square" lIns="0" tIns="0" rIns="0" bIns="0" rtlCol="0" anchor="t"/>
          <a:lstStyle/>
          <a:p>
            <a:pPr indent="0" marL="0">
              <a:buNone/>
            </a:pPr>
            <a:r>
              <a:rPr lang="en-US" sz="3200" b="1" dirty="0">
                <a:solidFill>
                  <a:schemeClr val="tx2"/>
                </a:solidFill>
                <a:latin typeface="Cambria" pitchFamily="34" charset="0"/>
                <a:ea typeface="Cambria" pitchFamily="34" charset="-122"/>
                <a:cs typeface="Cambria" pitchFamily="34" charset="-120"/>
              </a:rPr>
              <a:t>5</a:t>
            </a:r>
            <a:endParaRPr lang="en-US" sz="3200" dirty="0"/>
          </a:p>
        </p:txBody>
      </p:sp>
      <p:sp>
        <p:nvSpPr>
          <p:cNvPr id="21" name="step-h-4"/>
          <p:cNvSpPr txBox="1"/>
          <p:nvPr/>
        </p:nvSpPr>
        <p:spPr>
          <a:xfrm>
            <a:off x="6190488" y="2103120"/>
            <a:ext cx="987552" cy="320040"/>
          </a:xfrm>
          <a:prstGeom prst="rect">
            <a:avLst/>
          </a:prstGeom>
          <a:noFill/>
          <a:ln/>
        </p:spPr>
        <p:txBody>
          <a:bodyPr wrap="square" lIns="0" tIns="0" rIns="0" bIns="0" rtlCol="0" anchor="t"/>
          <a:lstStyle/>
          <a:p>
            <a:pPr indent="0" marL="0">
              <a:buNone/>
            </a:pPr>
            <a:r>
              <a:rPr lang="en-US" sz="1600" b="1" dirty="0">
                <a:solidFill>
                  <a:schemeClr val="tx2"/>
                </a:solidFill>
              </a:rPr>
              <a:t>Bump</a:t>
            </a:r>
            <a:endParaRPr lang="en-US" sz="1600" dirty="0"/>
          </a:p>
        </p:txBody>
      </p:sp>
      <p:sp>
        <p:nvSpPr>
          <p:cNvPr id="22" name="step-b-4"/>
          <p:cNvSpPr txBox="1"/>
          <p:nvPr/>
        </p:nvSpPr>
        <p:spPr>
          <a:xfrm>
            <a:off x="6190488" y="2423160"/>
            <a:ext cx="987552" cy="777240"/>
          </a:xfrm>
          <a:prstGeom prst="rect">
            <a:avLst/>
          </a:prstGeom>
          <a:noFill/>
          <a:ln/>
        </p:spPr>
        <p:txBody>
          <a:bodyPr wrap="square" lIns="0" tIns="0" rIns="0" bIns="0" rtlCol="0" anchor="t"/>
          <a:lstStyle/>
          <a:p>
            <a:pPr indent="0" marL="0">
              <a:buNone/>
            </a:pPr>
            <a:r>
              <a:rPr lang="en-US" sz="1200" dirty="0">
                <a:solidFill>
                  <a:schemeClr val="accent4"/>
                </a:solidFill>
              </a:rPr>
              <a:t>CI commits new tag to values.yaml</a:t>
            </a:r>
            <a:endParaRPr lang="en-US" sz="1200" dirty="0"/>
          </a:p>
        </p:txBody>
      </p:sp>
      <p:sp>
        <p:nvSpPr>
          <p:cNvPr id="23" name="step-card-5"/>
          <p:cNvSpPr/>
          <p:nvPr/>
        </p:nvSpPr>
        <p:spPr>
          <a:xfrm>
            <a:off x="7452360" y="1371600"/>
            <a:ext cx="1261872" cy="1920240"/>
          </a:xfrm>
          <a:prstGeom prst="roundRect">
            <a:avLst>
              <a:gd name="adj" fmla="val 5797"/>
            </a:avLst>
          </a:prstGeom>
          <a:solidFill>
            <a:schemeClr val="accent3"/>
          </a:solidFill>
          <a:ln/>
        </p:spPr>
      </p:sp>
      <p:sp>
        <p:nvSpPr>
          <p:cNvPr id="24" name="step-n-5"/>
          <p:cNvSpPr txBox="1"/>
          <p:nvPr/>
        </p:nvSpPr>
        <p:spPr>
          <a:xfrm>
            <a:off x="7589520" y="1508760"/>
            <a:ext cx="548640" cy="502920"/>
          </a:xfrm>
          <a:prstGeom prst="rect">
            <a:avLst/>
          </a:prstGeom>
          <a:noFill/>
          <a:ln/>
        </p:spPr>
        <p:txBody>
          <a:bodyPr wrap="square" lIns="0" tIns="0" rIns="0" bIns="0" rtlCol="0" anchor="t"/>
          <a:lstStyle/>
          <a:p>
            <a:pPr indent="0" marL="0">
              <a:buNone/>
            </a:pPr>
            <a:r>
              <a:rPr lang="en-US" sz="3200" b="1" dirty="0">
                <a:solidFill>
                  <a:schemeClr val="tx2"/>
                </a:solidFill>
                <a:latin typeface="Cambria" pitchFamily="34" charset="0"/>
                <a:ea typeface="Cambria" pitchFamily="34" charset="-122"/>
                <a:cs typeface="Cambria" pitchFamily="34" charset="-120"/>
              </a:rPr>
              <a:t>6</a:t>
            </a:r>
            <a:endParaRPr lang="en-US" sz="3200" dirty="0"/>
          </a:p>
        </p:txBody>
      </p:sp>
      <p:sp>
        <p:nvSpPr>
          <p:cNvPr id="25" name="step-h-5"/>
          <p:cNvSpPr txBox="1"/>
          <p:nvPr/>
        </p:nvSpPr>
        <p:spPr>
          <a:xfrm>
            <a:off x="7589520" y="2103120"/>
            <a:ext cx="987552" cy="320040"/>
          </a:xfrm>
          <a:prstGeom prst="rect">
            <a:avLst/>
          </a:prstGeom>
          <a:noFill/>
          <a:ln/>
        </p:spPr>
        <p:txBody>
          <a:bodyPr wrap="square" lIns="0" tIns="0" rIns="0" bIns="0" rtlCol="0" anchor="t"/>
          <a:lstStyle/>
          <a:p>
            <a:pPr indent="0" marL="0">
              <a:buNone/>
            </a:pPr>
            <a:r>
              <a:rPr lang="en-US" sz="1600" b="1" dirty="0">
                <a:solidFill>
                  <a:schemeClr val="tx2"/>
                </a:solidFill>
              </a:rPr>
              <a:t>Sync</a:t>
            </a:r>
            <a:endParaRPr lang="en-US" sz="1600" dirty="0"/>
          </a:p>
        </p:txBody>
      </p:sp>
      <p:sp>
        <p:nvSpPr>
          <p:cNvPr id="26" name="step-b-5"/>
          <p:cNvSpPr txBox="1"/>
          <p:nvPr/>
        </p:nvSpPr>
        <p:spPr>
          <a:xfrm>
            <a:off x="7589520" y="2423160"/>
            <a:ext cx="987552" cy="777240"/>
          </a:xfrm>
          <a:prstGeom prst="rect">
            <a:avLst/>
          </a:prstGeom>
          <a:noFill/>
          <a:ln/>
        </p:spPr>
        <p:txBody>
          <a:bodyPr wrap="square" lIns="0" tIns="0" rIns="0" bIns="0" rtlCol="0" anchor="t"/>
          <a:lstStyle/>
          <a:p>
            <a:pPr indent="0" marL="0">
              <a:buNone/>
            </a:pPr>
            <a:r>
              <a:rPr lang="en-US" sz="1200" dirty="0">
                <a:solidFill>
                  <a:schemeClr val="accent4"/>
                </a:solidFill>
              </a:rPr>
              <a:t>ArgoCD rolls the cluster forward</a:t>
            </a:r>
            <a:endParaRPr lang="en-US" sz="1200" dirty="0"/>
          </a:p>
        </p:txBody>
      </p:sp>
      <p:sp>
        <p:nvSpPr>
          <p:cNvPr id="27" name="ci-note1"/>
          <p:cNvSpPr txBox="1"/>
          <p:nvPr/>
        </p:nvSpPr>
        <p:spPr>
          <a:xfrm>
            <a:off x="457200" y="3611880"/>
            <a:ext cx="8229600" cy="320040"/>
          </a:xfrm>
          <a:prstGeom prst="rect">
            <a:avLst/>
          </a:prstGeom>
          <a:noFill/>
          <a:ln/>
        </p:spPr>
        <p:txBody>
          <a:bodyPr wrap="square" lIns="0" tIns="0" rIns="0" bIns="0" rtlCol="0" anchor="t"/>
          <a:lstStyle/>
          <a:p>
            <a:pPr indent="0" marL="0">
              <a:buNone/>
            </a:pPr>
            <a:r>
              <a:rPr lang="en-US" sz="1400" dirty="0">
                <a:solidFill>
                  <a:schemeClr val="tx1"/>
                </a:solidFill>
              </a:rPr>
              <a:t>Runs on every push to main. PRs get test + build + scan, but nothing is pushed or deployed.</a:t>
            </a:r>
            <a:endParaRPr lang="en-US" sz="1400" dirty="0"/>
          </a:p>
        </p:txBody>
      </p:sp>
      <p:sp>
        <p:nvSpPr>
          <p:cNvPr id="28" name="ci-note2"/>
          <p:cNvSpPr txBox="1"/>
          <p:nvPr/>
        </p:nvSpPr>
        <p:spPr>
          <a:xfrm>
            <a:off x="457200" y="4023360"/>
            <a:ext cx="8229600" cy="320040"/>
          </a:xfrm>
          <a:prstGeom prst="rect">
            <a:avLst/>
          </a:prstGeom>
          <a:noFill/>
          <a:ln/>
        </p:spPr>
        <p:txBody>
          <a:bodyPr wrap="square" lIns="0" tIns="0" rIns="0" bIns="0" rtlCol="0" anchor="t"/>
          <a:lstStyle/>
          <a:p>
            <a:pPr indent="0" marL="0">
              <a:buNone/>
            </a:pPr>
            <a:r>
              <a:rPr lang="en-US" sz="1400" b="1" dirty="0">
                <a:solidFill>
                  <a:schemeClr val="accent1"/>
                </a:solidFill>
              </a:rPr>
              <a:t>Why SHA tags: </a:t>
            </a:r>
            <a:pPr indent="0" marL="0">
              <a:buNone/>
            </a:pPr>
            <a:r>
              <a:rPr lang="en-US" sz="1400" dirty="0">
                <a:solidFill>
                  <a:schemeClr val="tx1"/>
                </a:solidFill>
              </a:rPr>
              <a:t>any pod in the cluster traces back to the exact commit. No guessing what "latest" means.</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Security gate with Trivy</a:t>
            </a:r>
            <a:endParaRPr lang="en-US" sz="3000" dirty="0"/>
          </a:p>
        </p:txBody>
      </p:sp>
      <p:sp>
        <p:nvSpPr>
          <p:cNvPr id="3" name="sec-stat-card"/>
          <p:cNvSpPr/>
          <p:nvPr/>
        </p:nvSpPr>
        <p:spPr>
          <a:xfrm>
            <a:off x="457200" y="1234440"/>
            <a:ext cx="3291840" cy="3108960"/>
          </a:xfrm>
          <a:prstGeom prst="roundRect">
            <a:avLst>
              <a:gd name="adj" fmla="val 2353"/>
            </a:avLst>
          </a:prstGeom>
          <a:solidFill>
            <a:schemeClr val="tx2"/>
          </a:solidFill>
          <a:ln/>
        </p:spPr>
      </p:sp>
      <p:sp>
        <p:nvSpPr>
          <p:cNvPr id="4" name="sec-stat"/>
          <p:cNvSpPr txBox="1"/>
          <p:nvPr/>
        </p:nvSpPr>
        <p:spPr>
          <a:xfrm>
            <a:off x="640080" y="1554480"/>
            <a:ext cx="2926080" cy="1097280"/>
          </a:xfrm>
          <a:prstGeom prst="rect">
            <a:avLst/>
          </a:prstGeom>
          <a:noFill/>
          <a:ln/>
        </p:spPr>
        <p:txBody>
          <a:bodyPr wrap="square" lIns="0" tIns="0" rIns="0" bIns="0" rtlCol="0" anchor="t"/>
          <a:lstStyle/>
          <a:p>
            <a:pPr algn="ctr" indent="0" marL="0">
              <a:buNone/>
            </a:pPr>
            <a:r>
              <a:rPr lang="en-US" sz="6400" b="1" dirty="0">
                <a:solidFill>
                  <a:schemeClr val="bg1"/>
                </a:solidFill>
                <a:latin typeface="Cambria" pitchFamily="34" charset="0"/>
                <a:ea typeface="Cambria" pitchFamily="34" charset="-122"/>
                <a:cs typeface="Cambria" pitchFamily="34" charset="-120"/>
              </a:rPr>
              <a:t>4 → 0</a:t>
            </a:r>
            <a:endParaRPr lang="en-US" sz="6400" dirty="0"/>
          </a:p>
        </p:txBody>
      </p:sp>
      <p:sp>
        <p:nvSpPr>
          <p:cNvPr id="5" name="sec-stat-label"/>
          <p:cNvSpPr txBox="1"/>
          <p:nvPr/>
        </p:nvSpPr>
        <p:spPr>
          <a:xfrm>
            <a:off x="731520" y="2743200"/>
            <a:ext cx="2743200" cy="640080"/>
          </a:xfrm>
          <a:prstGeom prst="rect">
            <a:avLst/>
          </a:prstGeom>
          <a:noFill/>
          <a:ln/>
        </p:spPr>
        <p:txBody>
          <a:bodyPr wrap="square" lIns="0" tIns="0" rIns="0" bIns="0" rtlCol="0" anchor="t"/>
          <a:lstStyle/>
          <a:p>
            <a:pPr algn="ctr" indent="0" marL="0">
              <a:buNone/>
            </a:pPr>
            <a:r>
              <a:rPr lang="en-US" sz="1400" dirty="0">
                <a:solidFill>
                  <a:schemeClr val="accent3"/>
                </a:solidFill>
              </a:rPr>
              <a:t>HIGH CVEs in the backend image, first scan vs now</a:t>
            </a:r>
            <a:endParaRPr lang="en-US" sz="1400" dirty="0"/>
          </a:p>
        </p:txBody>
      </p:sp>
      <p:sp>
        <p:nvSpPr>
          <p:cNvPr id="6" name="sec-fe"/>
          <p:cNvSpPr txBox="1"/>
          <p:nvPr/>
        </p:nvSpPr>
        <p:spPr>
          <a:xfrm>
            <a:off x="731520" y="3703320"/>
            <a:ext cx="2743200" cy="365760"/>
          </a:xfrm>
          <a:prstGeom prst="rect">
            <a:avLst/>
          </a:prstGeom>
          <a:noFill/>
          <a:ln/>
        </p:spPr>
        <p:txBody>
          <a:bodyPr wrap="square" lIns="0" tIns="0" rIns="0" bIns="0" rtlCol="0" anchor="t"/>
          <a:lstStyle/>
          <a:p>
            <a:pPr algn="ctr" indent="0" marL="0">
              <a:buNone/>
            </a:pPr>
            <a:r>
              <a:rPr lang="en-US" sz="1200" dirty="0">
                <a:solidFill>
                  <a:schemeClr val="accent3"/>
                </a:solidFill>
              </a:rPr>
              <a:t>Frontend: clean from day one</a:t>
            </a:r>
            <a:endParaRPr lang="en-US" sz="1200" dirty="0"/>
          </a:p>
        </p:txBody>
      </p:sp>
      <p:sp>
        <p:nvSpPr>
          <p:cNvPr id="7" name="sec-h-0"/>
          <p:cNvSpPr txBox="1"/>
          <p:nvPr/>
        </p:nvSpPr>
        <p:spPr>
          <a:xfrm>
            <a:off x="4114800" y="1234440"/>
            <a:ext cx="4572000" cy="320040"/>
          </a:xfrm>
          <a:prstGeom prst="rect">
            <a:avLst/>
          </a:prstGeom>
          <a:noFill/>
          <a:ln/>
        </p:spPr>
        <p:txBody>
          <a:bodyPr wrap="square" lIns="0" tIns="0" rIns="0" bIns="0" rtlCol="0" anchor="t"/>
          <a:lstStyle/>
          <a:p>
            <a:pPr indent="0" marL="0">
              <a:buNone/>
            </a:pPr>
            <a:r>
              <a:rPr lang="en-US" sz="1800" b="1" dirty="0">
                <a:solidFill>
                  <a:schemeClr val="tx2"/>
                </a:solidFill>
              </a:rPr>
              <a:t>What it scans</a:t>
            </a:r>
            <a:endParaRPr lang="en-US" sz="1800" dirty="0"/>
          </a:p>
        </p:txBody>
      </p:sp>
      <p:sp>
        <p:nvSpPr>
          <p:cNvPr id="8" name="sec-b-0"/>
          <p:cNvSpPr txBox="1"/>
          <p:nvPr/>
        </p:nvSpPr>
        <p:spPr>
          <a:xfrm>
            <a:off x="4114800" y="1581912"/>
            <a:ext cx="4572000" cy="594360"/>
          </a:xfrm>
          <a:prstGeom prst="rect">
            <a:avLst/>
          </a:prstGeom>
          <a:noFill/>
          <a:ln/>
        </p:spPr>
        <p:txBody>
          <a:bodyPr wrap="square" lIns="0" tIns="0" rIns="0" bIns="0" rtlCol="0" anchor="t"/>
          <a:lstStyle/>
          <a:p>
            <a:pPr indent="0" marL="0">
              <a:buNone/>
            </a:pPr>
            <a:r>
              <a:rPr lang="en-US" sz="1400" dirty="0">
                <a:solidFill>
                  <a:schemeClr val="accent4"/>
                </a:solidFill>
              </a:rPr>
              <a:t>OS packages (Debian, Alpine) and Python wheels inside both final images.</a:t>
            </a:r>
            <a:endParaRPr lang="en-US" sz="1400" dirty="0"/>
          </a:p>
        </p:txBody>
      </p:sp>
      <p:sp>
        <p:nvSpPr>
          <p:cNvPr id="9" name="sec-h-1"/>
          <p:cNvSpPr txBox="1"/>
          <p:nvPr/>
        </p:nvSpPr>
        <p:spPr>
          <a:xfrm>
            <a:off x="4114800" y="2286000"/>
            <a:ext cx="4572000" cy="320040"/>
          </a:xfrm>
          <a:prstGeom prst="rect">
            <a:avLst/>
          </a:prstGeom>
          <a:noFill/>
          <a:ln/>
        </p:spPr>
        <p:txBody>
          <a:bodyPr wrap="square" lIns="0" tIns="0" rIns="0" bIns="0" rtlCol="0" anchor="t"/>
          <a:lstStyle/>
          <a:p>
            <a:pPr indent="0" marL="0">
              <a:buNone/>
            </a:pPr>
            <a:r>
              <a:rPr lang="en-US" sz="1800" b="1" dirty="0">
                <a:solidFill>
                  <a:schemeClr val="tx2"/>
                </a:solidFill>
              </a:rPr>
              <a:t>What it found</a:t>
            </a:r>
            <a:endParaRPr lang="en-US" sz="1800" dirty="0"/>
          </a:p>
        </p:txBody>
      </p:sp>
      <p:sp>
        <p:nvSpPr>
          <p:cNvPr id="10" name="sec-b-1"/>
          <p:cNvSpPr txBox="1"/>
          <p:nvPr/>
        </p:nvSpPr>
        <p:spPr>
          <a:xfrm>
            <a:off x="4114800" y="2633472"/>
            <a:ext cx="4572000" cy="594360"/>
          </a:xfrm>
          <a:prstGeom prst="rect">
            <a:avLst/>
          </a:prstGeom>
          <a:noFill/>
          <a:ln/>
        </p:spPr>
        <p:txBody>
          <a:bodyPr wrap="square" lIns="0" tIns="0" rIns="0" bIns="0" rtlCol="0" anchor="t"/>
          <a:lstStyle/>
          <a:p>
            <a:pPr indent="0" marL="0">
              <a:buNone/>
            </a:pPr>
            <a:r>
              <a:rPr lang="en-US" sz="1400" dirty="0">
                <a:solidFill>
                  <a:schemeClr val="accent4"/>
                </a:solidFill>
              </a:rPr>
              <a:t>setuptools CVE-2025-47273, 2 urllib3 CVEs, 1 msgpack. All inside pip's vendored copies.</a:t>
            </a:r>
            <a:endParaRPr lang="en-US" sz="1400" dirty="0"/>
          </a:p>
        </p:txBody>
      </p:sp>
      <p:sp>
        <p:nvSpPr>
          <p:cNvPr id="11" name="sec-h-2"/>
          <p:cNvSpPr txBox="1"/>
          <p:nvPr/>
        </p:nvSpPr>
        <p:spPr>
          <a:xfrm>
            <a:off x="4114800" y="3337560"/>
            <a:ext cx="4572000" cy="320040"/>
          </a:xfrm>
          <a:prstGeom prst="rect">
            <a:avLst/>
          </a:prstGeom>
          <a:noFill/>
          <a:ln/>
        </p:spPr>
        <p:txBody>
          <a:bodyPr wrap="square" lIns="0" tIns="0" rIns="0" bIns="0" rtlCol="0" anchor="t"/>
          <a:lstStyle/>
          <a:p>
            <a:pPr indent="0" marL="0">
              <a:buNone/>
            </a:pPr>
            <a:r>
              <a:rPr lang="en-US" sz="1800" b="1" dirty="0">
                <a:solidFill>
                  <a:schemeClr val="tx2"/>
                </a:solidFill>
              </a:rPr>
              <a:t>The fix</a:t>
            </a:r>
            <a:endParaRPr lang="en-US" sz="1800" dirty="0"/>
          </a:p>
        </p:txBody>
      </p:sp>
      <p:sp>
        <p:nvSpPr>
          <p:cNvPr id="12" name="sec-b-2"/>
          <p:cNvSpPr txBox="1"/>
          <p:nvPr/>
        </p:nvSpPr>
        <p:spPr>
          <a:xfrm>
            <a:off x="4114800" y="3685032"/>
            <a:ext cx="4572000" cy="594360"/>
          </a:xfrm>
          <a:prstGeom prst="rect">
            <a:avLst/>
          </a:prstGeom>
          <a:noFill/>
          <a:ln/>
        </p:spPr>
        <p:txBody>
          <a:bodyPr wrap="square" lIns="0" tIns="0" rIns="0" bIns="0" rtlCol="0" anchor="t"/>
          <a:lstStyle/>
          <a:p>
            <a:pPr indent="0" marL="0">
              <a:buNone/>
            </a:pPr>
            <a:r>
              <a:rPr lang="en-US" sz="1400" dirty="0">
                <a:solidFill>
                  <a:schemeClr val="accent4"/>
                </a:solidFill>
              </a:rPr>
              <a:t>pip is build-time only, so the Dockerfile uninstalls it. Scan went clean.</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Infrastructure with Terraform</a:t>
            </a:r>
            <a:endParaRPr lang="en-US" sz="3000" dirty="0"/>
          </a:p>
        </p:txBody>
      </p:sp>
      <p:sp>
        <p:nvSpPr>
          <p:cNvPr id="3" name="vpc-box"/>
          <p:cNvSpPr/>
          <p:nvPr/>
        </p:nvSpPr>
        <p:spPr>
          <a:xfrm>
            <a:off x="457200" y="1188720"/>
            <a:ext cx="4754880" cy="3291840"/>
          </a:xfrm>
          <a:prstGeom prst="roundRect">
            <a:avLst>
              <a:gd name="adj" fmla="val 2222"/>
            </a:avLst>
          </a:prstGeom>
          <a:solidFill>
            <a:schemeClr val="bg2"/>
          </a:solidFill>
          <a:ln w="12700">
            <a:solidFill>
              <a:schemeClr val="accent1"/>
            </a:solidFill>
            <a:prstDash val="solid"/>
          </a:ln>
        </p:spPr>
      </p:sp>
      <p:sp>
        <p:nvSpPr>
          <p:cNvPr id="4" name="vpc-label"/>
          <p:cNvSpPr txBox="1"/>
          <p:nvPr/>
        </p:nvSpPr>
        <p:spPr>
          <a:xfrm>
            <a:off x="640080" y="1280160"/>
            <a:ext cx="4389120" cy="274320"/>
          </a:xfrm>
          <a:prstGeom prst="rect">
            <a:avLst/>
          </a:prstGeom>
          <a:noFill/>
          <a:ln/>
        </p:spPr>
        <p:txBody>
          <a:bodyPr wrap="square" lIns="0" tIns="0" rIns="0" bIns="0" rtlCol="0" anchor="t"/>
          <a:lstStyle/>
          <a:p>
            <a:pPr indent="0" marL="0">
              <a:buNone/>
            </a:pPr>
            <a:r>
              <a:rPr lang="en-US" sz="1200" b="1" dirty="0">
                <a:solidFill>
                  <a:schemeClr val="accent1"/>
                </a:solidFill>
              </a:rPr>
              <a:t>VPC 10.20.0.0/16  ·  ap-south-1</a:t>
            </a:r>
            <a:endParaRPr lang="en-US" sz="1200" dirty="0"/>
          </a:p>
        </p:txBody>
      </p:sp>
      <p:sp>
        <p:nvSpPr>
          <p:cNvPr id="5" name="az-0"/>
          <p:cNvSpPr txBox="1"/>
          <p:nvPr/>
        </p:nvSpPr>
        <p:spPr>
          <a:xfrm>
            <a:off x="640080" y="1645920"/>
            <a:ext cx="2103120" cy="228600"/>
          </a:xfrm>
          <a:prstGeom prst="rect">
            <a:avLst/>
          </a:prstGeom>
          <a:noFill/>
          <a:ln/>
        </p:spPr>
        <p:txBody>
          <a:bodyPr wrap="square" lIns="0" tIns="0" rIns="0" bIns="0" rtlCol="0" anchor="t"/>
          <a:lstStyle/>
          <a:p>
            <a:pPr indent="0" marL="0">
              <a:buNone/>
            </a:pPr>
            <a:r>
              <a:rPr lang="en-US" sz="1100" dirty="0">
                <a:solidFill>
                  <a:schemeClr val="accent4"/>
                </a:solidFill>
              </a:rPr>
              <a:t>AZ a</a:t>
            </a:r>
            <a:endParaRPr lang="en-US" sz="1100" dirty="0"/>
          </a:p>
        </p:txBody>
      </p:sp>
      <p:sp>
        <p:nvSpPr>
          <p:cNvPr id="6" name="pub-0"/>
          <p:cNvSpPr/>
          <p:nvPr/>
        </p:nvSpPr>
        <p:spPr>
          <a:xfrm>
            <a:off x="640080" y="1920240"/>
            <a:ext cx="2103120" cy="548640"/>
          </a:xfrm>
          <a:prstGeom prst="roundRect">
            <a:avLst>
              <a:gd name="adj" fmla="val 10000"/>
            </a:avLst>
          </a:prstGeom>
          <a:solidFill>
            <a:schemeClr val="accent2"/>
          </a:solidFill>
          <a:ln/>
        </p:spPr>
      </p:sp>
      <p:sp>
        <p:nvSpPr>
          <p:cNvPr id="7" name="pub-0-label"/>
          <p:cNvSpPr txBox="1"/>
          <p:nvPr/>
        </p:nvSpPr>
        <p:spPr>
          <a:xfrm>
            <a:off x="640080" y="1920240"/>
            <a:ext cx="2103120" cy="548640"/>
          </a:xfrm>
          <a:prstGeom prst="rect">
            <a:avLst/>
          </a:prstGeom>
          <a:noFill/>
          <a:ln/>
        </p:spPr>
        <p:txBody>
          <a:bodyPr wrap="square" lIns="0" tIns="0" rIns="0" bIns="0" rtlCol="0" anchor="ctr"/>
          <a:lstStyle/>
          <a:p>
            <a:pPr algn="ctr" indent="0" marL="0">
              <a:buNone/>
            </a:pPr>
            <a:r>
              <a:rPr lang="en-US" sz="1200" b="1" dirty="0">
                <a:solidFill>
                  <a:schemeClr val="bg1"/>
                </a:solidFill>
              </a:rPr>
              <a:t>public subnet + NAT</a:t>
            </a:r>
            <a:endParaRPr lang="en-US" sz="1200" dirty="0"/>
          </a:p>
        </p:txBody>
      </p:sp>
      <p:sp>
        <p:nvSpPr>
          <p:cNvPr id="8" name="priv-0"/>
          <p:cNvSpPr/>
          <p:nvPr/>
        </p:nvSpPr>
        <p:spPr>
          <a:xfrm>
            <a:off x="640080" y="2651760"/>
            <a:ext cx="2103120" cy="548640"/>
          </a:xfrm>
          <a:prstGeom prst="roundRect">
            <a:avLst>
              <a:gd name="adj" fmla="val 10000"/>
            </a:avLst>
          </a:prstGeom>
          <a:solidFill>
            <a:schemeClr val="tx2"/>
          </a:solidFill>
          <a:ln/>
        </p:spPr>
      </p:sp>
      <p:sp>
        <p:nvSpPr>
          <p:cNvPr id="9" name="priv-0-label"/>
          <p:cNvSpPr txBox="1"/>
          <p:nvPr/>
        </p:nvSpPr>
        <p:spPr>
          <a:xfrm>
            <a:off x="640080" y="2651760"/>
            <a:ext cx="2103120" cy="548640"/>
          </a:xfrm>
          <a:prstGeom prst="rect">
            <a:avLst/>
          </a:prstGeom>
          <a:noFill/>
          <a:ln/>
        </p:spPr>
        <p:txBody>
          <a:bodyPr wrap="square" lIns="0" tIns="0" rIns="0" bIns="0" rtlCol="0" anchor="ctr"/>
          <a:lstStyle/>
          <a:p>
            <a:pPr algn="ctr" indent="0" marL="0">
              <a:buNone/>
            </a:pPr>
            <a:r>
              <a:rPr lang="en-US" sz="1200" b="1" dirty="0">
                <a:solidFill>
                  <a:schemeClr val="bg1"/>
                </a:solidFill>
              </a:rPr>
              <a:t>private subnet</a:t>
            </a:r>
            <a:endParaRPr lang="en-US" sz="1200" dirty="0"/>
          </a:p>
        </p:txBody>
      </p:sp>
      <p:sp>
        <p:nvSpPr>
          <p:cNvPr id="10" name="node-0"/>
          <p:cNvSpPr/>
          <p:nvPr/>
        </p:nvSpPr>
        <p:spPr>
          <a:xfrm>
            <a:off x="640080" y="3383280"/>
            <a:ext cx="2103120" cy="548640"/>
          </a:xfrm>
          <a:prstGeom prst="roundRect">
            <a:avLst>
              <a:gd name="adj" fmla="val 10000"/>
            </a:avLst>
          </a:prstGeom>
          <a:solidFill>
            <a:schemeClr val="accent1"/>
          </a:solidFill>
          <a:ln/>
        </p:spPr>
      </p:sp>
      <p:sp>
        <p:nvSpPr>
          <p:cNvPr id="11" name="node-0-label"/>
          <p:cNvSpPr txBox="1"/>
          <p:nvPr/>
        </p:nvSpPr>
        <p:spPr>
          <a:xfrm>
            <a:off x="640080" y="3383280"/>
            <a:ext cx="2103120" cy="548640"/>
          </a:xfrm>
          <a:prstGeom prst="rect">
            <a:avLst/>
          </a:prstGeom>
          <a:noFill/>
          <a:ln/>
        </p:spPr>
        <p:txBody>
          <a:bodyPr wrap="square" lIns="0" tIns="0" rIns="0" bIns="0" rtlCol="0" anchor="ctr"/>
          <a:lstStyle/>
          <a:p>
            <a:pPr algn="ctr" indent="0" marL="0">
              <a:buNone/>
            </a:pPr>
            <a:r>
              <a:rPr lang="en-US" sz="1200" b="1" dirty="0">
                <a:solidFill>
                  <a:schemeClr val="bg1"/>
                </a:solidFill>
              </a:rPr>
              <a:t>EKS node (t3.large)</a:t>
            </a:r>
            <a:endParaRPr lang="en-US" sz="1200" dirty="0"/>
          </a:p>
        </p:txBody>
      </p:sp>
      <p:sp>
        <p:nvSpPr>
          <p:cNvPr id="12" name="az-1"/>
          <p:cNvSpPr txBox="1"/>
          <p:nvPr/>
        </p:nvSpPr>
        <p:spPr>
          <a:xfrm>
            <a:off x="2926080" y="1645920"/>
            <a:ext cx="2103120" cy="228600"/>
          </a:xfrm>
          <a:prstGeom prst="rect">
            <a:avLst/>
          </a:prstGeom>
          <a:noFill/>
          <a:ln/>
        </p:spPr>
        <p:txBody>
          <a:bodyPr wrap="square" lIns="0" tIns="0" rIns="0" bIns="0" rtlCol="0" anchor="t"/>
          <a:lstStyle/>
          <a:p>
            <a:pPr indent="0" marL="0">
              <a:buNone/>
            </a:pPr>
            <a:r>
              <a:rPr lang="en-US" sz="1100" dirty="0">
                <a:solidFill>
                  <a:schemeClr val="accent4"/>
                </a:solidFill>
              </a:rPr>
              <a:t>AZ b</a:t>
            </a:r>
            <a:endParaRPr lang="en-US" sz="1100" dirty="0"/>
          </a:p>
        </p:txBody>
      </p:sp>
      <p:sp>
        <p:nvSpPr>
          <p:cNvPr id="13" name="pub-1"/>
          <p:cNvSpPr/>
          <p:nvPr/>
        </p:nvSpPr>
        <p:spPr>
          <a:xfrm>
            <a:off x="2926080" y="1920240"/>
            <a:ext cx="2103120" cy="548640"/>
          </a:xfrm>
          <a:prstGeom prst="roundRect">
            <a:avLst>
              <a:gd name="adj" fmla="val 10000"/>
            </a:avLst>
          </a:prstGeom>
          <a:solidFill>
            <a:schemeClr val="accent2"/>
          </a:solidFill>
          <a:ln/>
        </p:spPr>
      </p:sp>
      <p:sp>
        <p:nvSpPr>
          <p:cNvPr id="14" name="pub-1-label"/>
          <p:cNvSpPr txBox="1"/>
          <p:nvPr/>
        </p:nvSpPr>
        <p:spPr>
          <a:xfrm>
            <a:off x="2926080" y="1920240"/>
            <a:ext cx="2103120" cy="548640"/>
          </a:xfrm>
          <a:prstGeom prst="rect">
            <a:avLst/>
          </a:prstGeom>
          <a:noFill/>
          <a:ln/>
        </p:spPr>
        <p:txBody>
          <a:bodyPr wrap="square" lIns="0" tIns="0" rIns="0" bIns="0" rtlCol="0" anchor="ctr"/>
          <a:lstStyle/>
          <a:p>
            <a:pPr algn="ctr" indent="0" marL="0">
              <a:buNone/>
            </a:pPr>
            <a:r>
              <a:rPr lang="en-US" sz="1200" b="1" dirty="0">
                <a:solidFill>
                  <a:schemeClr val="bg1"/>
                </a:solidFill>
              </a:rPr>
              <a:t>public subnet</a:t>
            </a:r>
            <a:endParaRPr lang="en-US" sz="1200" dirty="0"/>
          </a:p>
        </p:txBody>
      </p:sp>
      <p:sp>
        <p:nvSpPr>
          <p:cNvPr id="15" name="priv-1"/>
          <p:cNvSpPr/>
          <p:nvPr/>
        </p:nvSpPr>
        <p:spPr>
          <a:xfrm>
            <a:off x="2926080" y="2651760"/>
            <a:ext cx="2103120" cy="548640"/>
          </a:xfrm>
          <a:prstGeom prst="roundRect">
            <a:avLst>
              <a:gd name="adj" fmla="val 10000"/>
            </a:avLst>
          </a:prstGeom>
          <a:solidFill>
            <a:schemeClr val="tx2"/>
          </a:solidFill>
          <a:ln/>
        </p:spPr>
      </p:sp>
      <p:sp>
        <p:nvSpPr>
          <p:cNvPr id="16" name="priv-1-label"/>
          <p:cNvSpPr txBox="1"/>
          <p:nvPr/>
        </p:nvSpPr>
        <p:spPr>
          <a:xfrm>
            <a:off x="2926080" y="2651760"/>
            <a:ext cx="2103120" cy="548640"/>
          </a:xfrm>
          <a:prstGeom prst="rect">
            <a:avLst/>
          </a:prstGeom>
          <a:noFill/>
          <a:ln/>
        </p:spPr>
        <p:txBody>
          <a:bodyPr wrap="square" lIns="0" tIns="0" rIns="0" bIns="0" rtlCol="0" anchor="ctr"/>
          <a:lstStyle/>
          <a:p>
            <a:pPr algn="ctr" indent="0" marL="0">
              <a:buNone/>
            </a:pPr>
            <a:r>
              <a:rPr lang="en-US" sz="1200" b="1" dirty="0">
                <a:solidFill>
                  <a:schemeClr val="bg1"/>
                </a:solidFill>
              </a:rPr>
              <a:t>private subnet</a:t>
            </a:r>
            <a:endParaRPr lang="en-US" sz="1200" dirty="0"/>
          </a:p>
        </p:txBody>
      </p:sp>
      <p:sp>
        <p:nvSpPr>
          <p:cNvPr id="17" name="node-1"/>
          <p:cNvSpPr/>
          <p:nvPr/>
        </p:nvSpPr>
        <p:spPr>
          <a:xfrm>
            <a:off x="2926080" y="3383280"/>
            <a:ext cx="2103120" cy="548640"/>
          </a:xfrm>
          <a:prstGeom prst="roundRect">
            <a:avLst>
              <a:gd name="adj" fmla="val 10000"/>
            </a:avLst>
          </a:prstGeom>
          <a:solidFill>
            <a:schemeClr val="accent1"/>
          </a:solidFill>
          <a:ln/>
        </p:spPr>
      </p:sp>
      <p:sp>
        <p:nvSpPr>
          <p:cNvPr id="18" name="node-1-label"/>
          <p:cNvSpPr txBox="1"/>
          <p:nvPr/>
        </p:nvSpPr>
        <p:spPr>
          <a:xfrm>
            <a:off x="2926080" y="3383280"/>
            <a:ext cx="2103120" cy="548640"/>
          </a:xfrm>
          <a:prstGeom prst="rect">
            <a:avLst/>
          </a:prstGeom>
          <a:noFill/>
          <a:ln/>
        </p:spPr>
        <p:txBody>
          <a:bodyPr wrap="square" lIns="0" tIns="0" rIns="0" bIns="0" rtlCol="0" anchor="ctr"/>
          <a:lstStyle/>
          <a:p>
            <a:pPr algn="ctr" indent="0" marL="0">
              <a:buNone/>
            </a:pPr>
            <a:r>
              <a:rPr lang="en-US" sz="1200" b="1" dirty="0">
                <a:solidFill>
                  <a:schemeClr val="bg1"/>
                </a:solidFill>
              </a:rPr>
              <a:t>EKS node (t3.large)</a:t>
            </a:r>
            <a:endParaRPr lang="en-US" sz="1200" dirty="0"/>
          </a:p>
        </p:txBody>
      </p:sp>
      <p:sp>
        <p:nvSpPr>
          <p:cNvPr id="19" name="tf-bullets"/>
          <p:cNvSpPr txBox="1"/>
          <p:nvPr/>
        </p:nvSpPr>
        <p:spPr>
          <a:xfrm>
            <a:off x="5486400" y="1234440"/>
            <a:ext cx="3200400" cy="24688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2 public + 2 private subnets over 2 AZs</a:t>
            </a:r>
            <a:endParaRPr lang="en-US" sz="1400" dirty="0"/>
          </a:p>
          <a:p>
            <a:pPr marL="342900" indent="-342900">
              <a:spcAft>
                <a:spcPts val="800"/>
              </a:spcAft>
              <a:buSzPct val="100000"/>
              <a:buChar char="•"/>
            </a:pPr>
            <a:r>
              <a:rPr lang="en-US" sz="1400" dirty="0">
                <a:solidFill>
                  <a:schemeClr val="tx1"/>
                </a:solidFill>
              </a:rPr>
              <a:t>EKS 1.35, managed node group 2 to 4</a:t>
            </a:r>
            <a:endParaRPr lang="en-US" sz="1400" dirty="0"/>
          </a:p>
          <a:p>
            <a:pPr marL="342900" indent="-342900">
              <a:spcAft>
                <a:spcPts val="800"/>
              </a:spcAft>
              <a:buSzPct val="100000"/>
              <a:buChar char="•"/>
            </a:pPr>
            <a:r>
              <a:rPr lang="en-US" sz="1400" dirty="0">
                <a:solidFill>
                  <a:schemeClr val="tx1"/>
                </a:solidFill>
              </a:rPr>
              <a:t>Add-ons: VPC CNI, CoreDNS, kube-proxy, EBS CSI</a:t>
            </a:r>
            <a:endParaRPr lang="en-US" sz="1400" dirty="0"/>
          </a:p>
          <a:p>
            <a:pPr marL="342900" indent="-342900">
              <a:spcAft>
                <a:spcPts val="800"/>
              </a:spcAft>
              <a:buSzPct val="100000"/>
              <a:buChar char="•"/>
            </a:pPr>
            <a:r>
              <a:rPr lang="en-US" sz="1400" dirty="0">
                <a:solidFill>
                  <a:schemeClr val="tx1"/>
                </a:solidFill>
              </a:rPr>
              <a:t>Subnets tagged so load balancers land in public ones</a:t>
            </a:r>
            <a:endParaRPr lang="en-US" sz="1400" dirty="0"/>
          </a:p>
          <a:p>
            <a:pPr marL="342900" indent="-342900">
              <a:spcAft>
                <a:spcPts val="800"/>
              </a:spcAft>
              <a:buSzPct val="100000"/>
              <a:buChar char="•"/>
            </a:pPr>
            <a:r>
              <a:rPr lang="en-US" sz="1400" dirty="0">
                <a:solidFill>
                  <a:schemeClr val="tx1"/>
                </a:solidFill>
              </a:rPr>
              <a:t>No keys in git. tfvars.example only</a:t>
            </a:r>
            <a:endParaRPr lang="en-US" sz="1400" dirty="0"/>
          </a:p>
        </p:txBody>
      </p:sp>
      <p:sp>
        <p:nvSpPr>
          <p:cNvPr id="20" name="tf-flow"/>
          <p:cNvSpPr txBox="1"/>
          <p:nvPr/>
        </p:nvSpPr>
        <p:spPr>
          <a:xfrm>
            <a:off x="5486400" y="3977640"/>
            <a:ext cx="3200400" cy="365760"/>
          </a:xfrm>
          <a:prstGeom prst="rect">
            <a:avLst/>
          </a:prstGeom>
          <a:noFill/>
          <a:ln/>
        </p:spPr>
        <p:txBody>
          <a:bodyPr wrap="square" lIns="0" tIns="0" rIns="0" bIns="0" rtlCol="0" anchor="t"/>
          <a:lstStyle/>
          <a:p>
            <a:pPr indent="0" marL="0">
              <a:buNone/>
            </a:pPr>
            <a:r>
              <a:rPr lang="en-US" sz="1400" b="1" dirty="0">
                <a:solidFill>
                  <a:schemeClr val="accent1"/>
                </a:solidFill>
              </a:rPr>
              <a:t>init  →  plan  →  apply  →  destroy</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Kubernetes, Helm and ArgoCD</a:t>
            </a:r>
            <a:endParaRPr lang="en-US" sz="3000" dirty="0"/>
          </a:p>
        </p:txBody>
      </p:sp>
      <p:sp>
        <p:nvSpPr>
          <p:cNvPr id="3" name="k8s-card-0"/>
          <p:cNvSpPr/>
          <p:nvPr/>
        </p:nvSpPr>
        <p:spPr>
          <a:xfrm>
            <a:off x="457200" y="1234440"/>
            <a:ext cx="2331720" cy="1417320"/>
          </a:xfrm>
          <a:prstGeom prst="roundRect">
            <a:avLst>
              <a:gd name="adj" fmla="val 5161"/>
            </a:avLst>
          </a:prstGeom>
          <a:solidFill>
            <a:schemeClr val="bg2"/>
          </a:solidFill>
          <a:ln/>
        </p:spPr>
      </p:sp>
      <p:sp>
        <p:nvSpPr>
          <p:cNvPr id="4" name="k8s-h-0"/>
          <p:cNvSpPr txBox="1"/>
          <p:nvPr/>
        </p:nvSpPr>
        <p:spPr>
          <a:xfrm>
            <a:off x="640080" y="1399032"/>
            <a:ext cx="1965960" cy="320040"/>
          </a:xfrm>
          <a:prstGeom prst="rect">
            <a:avLst/>
          </a:prstGeom>
          <a:noFill/>
          <a:ln/>
        </p:spPr>
        <p:txBody>
          <a:bodyPr wrap="square" lIns="0" tIns="0" rIns="0" bIns="0" rtlCol="0" anchor="t"/>
          <a:lstStyle/>
          <a:p>
            <a:pPr indent="0" marL="0">
              <a:buNone/>
            </a:pPr>
            <a:r>
              <a:rPr lang="en-US" sz="1600" b="1" dirty="0">
                <a:solidFill>
                  <a:schemeClr val="tx2"/>
                </a:solidFill>
              </a:rPr>
              <a:t>Deployments</a:t>
            </a:r>
            <a:endParaRPr lang="en-US" sz="1600" dirty="0"/>
          </a:p>
        </p:txBody>
      </p:sp>
      <p:sp>
        <p:nvSpPr>
          <p:cNvPr id="5" name="k8s-b-0"/>
          <p:cNvSpPr txBox="1"/>
          <p:nvPr/>
        </p:nvSpPr>
        <p:spPr>
          <a:xfrm>
            <a:off x="640080" y="1737360"/>
            <a:ext cx="1965960" cy="822960"/>
          </a:xfrm>
          <a:prstGeom prst="rect">
            <a:avLst/>
          </a:prstGeom>
          <a:noFill/>
          <a:ln/>
        </p:spPr>
        <p:txBody>
          <a:bodyPr wrap="square" lIns="0" tIns="0" rIns="0" bIns="0" rtlCol="0" anchor="t"/>
          <a:lstStyle/>
          <a:p>
            <a:pPr indent="0" marL="0">
              <a:buNone/>
            </a:pPr>
            <a:r>
              <a:rPr lang="en-US" sz="1200" dirty="0">
                <a:solidFill>
                  <a:schemeClr val="accent4"/>
                </a:solidFill>
              </a:rPr>
              <a:t>frontend x2, backend x2 with HPA up to 6 at 60% CPU</a:t>
            </a:r>
            <a:endParaRPr lang="en-US" sz="1200" dirty="0"/>
          </a:p>
        </p:txBody>
      </p:sp>
      <p:sp>
        <p:nvSpPr>
          <p:cNvPr id="6" name="k8s-card-1"/>
          <p:cNvSpPr/>
          <p:nvPr/>
        </p:nvSpPr>
        <p:spPr>
          <a:xfrm>
            <a:off x="2971800" y="1234440"/>
            <a:ext cx="2331720" cy="1417320"/>
          </a:xfrm>
          <a:prstGeom prst="roundRect">
            <a:avLst>
              <a:gd name="adj" fmla="val 5161"/>
            </a:avLst>
          </a:prstGeom>
          <a:solidFill>
            <a:schemeClr val="bg2"/>
          </a:solidFill>
          <a:ln/>
        </p:spPr>
      </p:sp>
      <p:sp>
        <p:nvSpPr>
          <p:cNvPr id="7" name="k8s-h-1"/>
          <p:cNvSpPr txBox="1"/>
          <p:nvPr/>
        </p:nvSpPr>
        <p:spPr>
          <a:xfrm>
            <a:off x="3154680" y="1399032"/>
            <a:ext cx="1965960" cy="320040"/>
          </a:xfrm>
          <a:prstGeom prst="rect">
            <a:avLst/>
          </a:prstGeom>
          <a:noFill/>
          <a:ln/>
        </p:spPr>
        <p:txBody>
          <a:bodyPr wrap="square" lIns="0" tIns="0" rIns="0" bIns="0" rtlCol="0" anchor="t"/>
          <a:lstStyle/>
          <a:p>
            <a:pPr indent="0" marL="0">
              <a:buNone/>
            </a:pPr>
            <a:r>
              <a:rPr lang="en-US" sz="1600" b="1" dirty="0">
                <a:solidFill>
                  <a:schemeClr val="tx2"/>
                </a:solidFill>
              </a:rPr>
              <a:t>Postgres</a:t>
            </a:r>
            <a:endParaRPr lang="en-US" sz="1600" dirty="0"/>
          </a:p>
        </p:txBody>
      </p:sp>
      <p:sp>
        <p:nvSpPr>
          <p:cNvPr id="8" name="k8s-b-1"/>
          <p:cNvSpPr txBox="1"/>
          <p:nvPr/>
        </p:nvSpPr>
        <p:spPr>
          <a:xfrm>
            <a:off x="3154680" y="1737360"/>
            <a:ext cx="1965960" cy="822960"/>
          </a:xfrm>
          <a:prstGeom prst="rect">
            <a:avLst/>
          </a:prstGeom>
          <a:noFill/>
          <a:ln/>
        </p:spPr>
        <p:txBody>
          <a:bodyPr wrap="square" lIns="0" tIns="0" rIns="0" bIns="0" rtlCol="0" anchor="t"/>
          <a:lstStyle/>
          <a:p>
            <a:pPr indent="0" marL="0">
              <a:buNone/>
            </a:pPr>
            <a:r>
              <a:rPr lang="en-US" sz="1200" dirty="0">
                <a:solidFill>
                  <a:schemeClr val="accent4"/>
                </a:solidFill>
              </a:rPr>
              <a:t>StatefulSet + PVC, backend waits on it with an init container</a:t>
            </a:r>
            <a:endParaRPr lang="en-US" sz="1200" dirty="0"/>
          </a:p>
        </p:txBody>
      </p:sp>
      <p:sp>
        <p:nvSpPr>
          <p:cNvPr id="9" name="k8s-card-2"/>
          <p:cNvSpPr/>
          <p:nvPr/>
        </p:nvSpPr>
        <p:spPr>
          <a:xfrm>
            <a:off x="457200" y="2834640"/>
            <a:ext cx="2331720" cy="1417320"/>
          </a:xfrm>
          <a:prstGeom prst="roundRect">
            <a:avLst>
              <a:gd name="adj" fmla="val 5161"/>
            </a:avLst>
          </a:prstGeom>
          <a:solidFill>
            <a:schemeClr val="bg2"/>
          </a:solidFill>
          <a:ln/>
        </p:spPr>
      </p:sp>
      <p:sp>
        <p:nvSpPr>
          <p:cNvPr id="10" name="k8s-h-2"/>
          <p:cNvSpPr txBox="1"/>
          <p:nvPr/>
        </p:nvSpPr>
        <p:spPr>
          <a:xfrm>
            <a:off x="640080" y="2999232"/>
            <a:ext cx="1965960" cy="320040"/>
          </a:xfrm>
          <a:prstGeom prst="rect">
            <a:avLst/>
          </a:prstGeom>
          <a:noFill/>
          <a:ln/>
        </p:spPr>
        <p:txBody>
          <a:bodyPr wrap="square" lIns="0" tIns="0" rIns="0" bIns="0" rtlCol="0" anchor="t"/>
          <a:lstStyle/>
          <a:p>
            <a:pPr indent="0" marL="0">
              <a:buNone/>
            </a:pPr>
            <a:r>
              <a:rPr lang="en-US" sz="1600" b="1" dirty="0">
                <a:solidFill>
                  <a:schemeClr val="tx2"/>
                </a:solidFill>
              </a:rPr>
              <a:t>Networking</a:t>
            </a:r>
            <a:endParaRPr lang="en-US" sz="1600" dirty="0"/>
          </a:p>
        </p:txBody>
      </p:sp>
      <p:sp>
        <p:nvSpPr>
          <p:cNvPr id="11" name="k8s-b-2"/>
          <p:cNvSpPr txBox="1"/>
          <p:nvPr/>
        </p:nvSpPr>
        <p:spPr>
          <a:xfrm>
            <a:off x="640080" y="3337560"/>
            <a:ext cx="1965960" cy="822960"/>
          </a:xfrm>
          <a:prstGeom prst="rect">
            <a:avLst/>
          </a:prstGeom>
          <a:noFill/>
          <a:ln/>
        </p:spPr>
        <p:txBody>
          <a:bodyPr wrap="square" lIns="0" tIns="0" rIns="0" bIns="0" rtlCol="0" anchor="t"/>
          <a:lstStyle/>
          <a:p>
            <a:pPr indent="0" marL="0">
              <a:buNone/>
            </a:pPr>
            <a:r>
              <a:rPr lang="en-US" sz="1200" dirty="0">
                <a:solidFill>
                  <a:schemeClr val="accent4"/>
                </a:solidFill>
              </a:rPr>
              <a:t>ClusterIP services, ingress splits / and /api</a:t>
            </a:r>
            <a:endParaRPr lang="en-US" sz="1200" dirty="0"/>
          </a:p>
        </p:txBody>
      </p:sp>
      <p:sp>
        <p:nvSpPr>
          <p:cNvPr id="12" name="k8s-card-3"/>
          <p:cNvSpPr/>
          <p:nvPr/>
        </p:nvSpPr>
        <p:spPr>
          <a:xfrm>
            <a:off x="2971800" y="2834640"/>
            <a:ext cx="2331720" cy="1417320"/>
          </a:xfrm>
          <a:prstGeom prst="roundRect">
            <a:avLst>
              <a:gd name="adj" fmla="val 5161"/>
            </a:avLst>
          </a:prstGeom>
          <a:solidFill>
            <a:schemeClr val="bg2"/>
          </a:solidFill>
          <a:ln/>
        </p:spPr>
      </p:sp>
      <p:sp>
        <p:nvSpPr>
          <p:cNvPr id="13" name="k8s-h-3"/>
          <p:cNvSpPr txBox="1"/>
          <p:nvPr/>
        </p:nvSpPr>
        <p:spPr>
          <a:xfrm>
            <a:off x="3154680" y="2999232"/>
            <a:ext cx="1965960" cy="320040"/>
          </a:xfrm>
          <a:prstGeom prst="rect">
            <a:avLst/>
          </a:prstGeom>
          <a:noFill/>
          <a:ln/>
        </p:spPr>
        <p:txBody>
          <a:bodyPr wrap="square" lIns="0" tIns="0" rIns="0" bIns="0" rtlCol="0" anchor="t"/>
          <a:lstStyle/>
          <a:p>
            <a:pPr indent="0" marL="0">
              <a:buNone/>
            </a:pPr>
            <a:r>
              <a:rPr lang="en-US" sz="1600" b="1" dirty="0">
                <a:solidFill>
                  <a:schemeClr val="tx2"/>
                </a:solidFill>
              </a:rPr>
              <a:t>Hardening</a:t>
            </a:r>
            <a:endParaRPr lang="en-US" sz="1600" dirty="0"/>
          </a:p>
        </p:txBody>
      </p:sp>
      <p:sp>
        <p:nvSpPr>
          <p:cNvPr id="14" name="k8s-b-3"/>
          <p:cNvSpPr txBox="1"/>
          <p:nvPr/>
        </p:nvSpPr>
        <p:spPr>
          <a:xfrm>
            <a:off x="3154680" y="3337560"/>
            <a:ext cx="1965960" cy="822960"/>
          </a:xfrm>
          <a:prstGeom prst="rect">
            <a:avLst/>
          </a:prstGeom>
          <a:noFill/>
          <a:ln/>
        </p:spPr>
        <p:txBody>
          <a:bodyPr wrap="square" lIns="0" tIns="0" rIns="0" bIns="0" rtlCol="0" anchor="t"/>
          <a:lstStyle/>
          <a:p>
            <a:pPr indent="0" marL="0">
              <a:buNone/>
            </a:pPr>
            <a:r>
              <a:rPr lang="en-US" sz="1200" dirty="0">
                <a:solidFill>
                  <a:schemeClr val="accent4"/>
                </a:solidFill>
              </a:rPr>
              <a:t>non-root, no privilege escalation, all caps dropped</a:t>
            </a:r>
            <a:endParaRPr lang="en-US" sz="1200" dirty="0"/>
          </a:p>
        </p:txBody>
      </p:sp>
      <p:sp>
        <p:nvSpPr>
          <p:cNvPr id="15" name="gitops-card"/>
          <p:cNvSpPr/>
          <p:nvPr/>
        </p:nvSpPr>
        <p:spPr>
          <a:xfrm>
            <a:off x="5669280" y="1234440"/>
            <a:ext cx="3017520" cy="3017520"/>
          </a:xfrm>
          <a:prstGeom prst="roundRect">
            <a:avLst>
              <a:gd name="adj" fmla="val 2424"/>
            </a:avLst>
          </a:prstGeom>
          <a:solidFill>
            <a:schemeClr val="tx2"/>
          </a:solidFill>
          <a:ln/>
        </p:spPr>
      </p:sp>
      <p:sp>
        <p:nvSpPr>
          <p:cNvPr id="16" name="gitops-circle"/>
          <p:cNvSpPr/>
          <p:nvPr/>
        </p:nvSpPr>
        <p:spPr>
          <a:xfrm>
            <a:off x="5852160" y="1417320"/>
            <a:ext cx="457200" cy="457200"/>
          </a:xfrm>
          <a:prstGeom prst="ellipse">
            <a:avLst/>
          </a:prstGeom>
          <a:solidFill>
            <a:schemeClr val="accent2"/>
          </a:solidFill>
          <a:ln/>
        </p:spPr>
      </p:sp>
      <p:pic>
        <p:nvPicPr>
          <p:cNvPr id="17" name="gitops-icon" descr="gitops">    </p:cNvPr>
          <p:cNvPicPr>
            <a:picLocks noChangeAspect="1"/>
          </p:cNvPicPr>
          <p:nvPr/>
        </p:nvPicPr>
        <p:blipFill>
          <a:blip r:embed="rId1"/>
          <a:stretch>
            <a:fillRect/>
          </a:stretch>
        </p:blipFill>
        <p:spPr>
          <a:xfrm>
            <a:off x="5961888" y="1527048"/>
            <a:ext cx="237744" cy="237744"/>
          </a:xfrm>
          <a:prstGeom prst="rect">
            <a:avLst/>
          </a:prstGeom>
        </p:spPr>
      </p:pic>
      <p:sp>
        <p:nvSpPr>
          <p:cNvPr id="18" name="gitops-h"/>
          <p:cNvSpPr txBox="1"/>
          <p:nvPr/>
        </p:nvSpPr>
        <p:spPr>
          <a:xfrm>
            <a:off x="6446520" y="1463040"/>
            <a:ext cx="2103120" cy="365760"/>
          </a:xfrm>
          <a:prstGeom prst="rect">
            <a:avLst/>
          </a:prstGeom>
          <a:noFill/>
          <a:ln/>
        </p:spPr>
        <p:txBody>
          <a:bodyPr wrap="square" lIns="0" tIns="0" rIns="0" bIns="0" rtlCol="0" anchor="t"/>
          <a:lstStyle/>
          <a:p>
            <a:pPr indent="0" marL="0">
              <a:buNone/>
            </a:pPr>
            <a:r>
              <a:rPr lang="en-US" sz="1800" b="1" dirty="0">
                <a:solidFill>
                  <a:schemeClr val="bg1"/>
                </a:solidFill>
              </a:rPr>
              <a:t>GitOps loop</a:t>
            </a:r>
            <a:endParaRPr lang="en-US" sz="1800" dirty="0"/>
          </a:p>
        </p:txBody>
      </p:sp>
      <p:sp>
        <p:nvSpPr>
          <p:cNvPr id="19" name="gitops-steps"/>
          <p:cNvSpPr txBox="1"/>
          <p:nvPr/>
        </p:nvSpPr>
        <p:spPr>
          <a:xfrm>
            <a:off x="5852160" y="2103120"/>
            <a:ext cx="2651760" cy="1920240"/>
          </a:xfrm>
          <a:prstGeom prst="rect">
            <a:avLst/>
          </a:prstGeom>
          <a:noFill/>
          <a:ln/>
        </p:spPr>
        <p:txBody>
          <a:bodyPr wrap="square" lIns="0" tIns="0" rIns="0" bIns="0" rtlCol="0" anchor="t"/>
          <a:lstStyle/>
          <a:p>
            <a:pPr marL="342900" indent="-342900">
              <a:spcAft>
                <a:spcPts val="800"/>
              </a:spcAft>
              <a:buSzPct val="100000"/>
              <a:buFont typeface="+mj-lt"/>
              <a:buAutoNum type="arabicPeriod" startAt="1"/>
            </a:pPr>
            <a:r>
              <a:rPr lang="en-US" sz="1400" dirty="0">
                <a:solidFill>
                  <a:schemeClr val="accent3"/>
                </a:solidFill>
              </a:rPr>
              <a:t>Push to main</a:t>
            </a:r>
            <a:endParaRPr lang="en-US" sz="1400" dirty="0"/>
          </a:p>
          <a:p>
            <a:pPr marL="342900" indent="-342900">
              <a:spcAft>
                <a:spcPts val="800"/>
              </a:spcAft>
              <a:buSzPct val="100000"/>
              <a:buFont typeface="+mj-lt"/>
              <a:buAutoNum type="arabicPeriod" startAt="1"/>
            </a:pPr>
            <a:r>
              <a:rPr lang="en-US" sz="1400" dirty="0">
                <a:solidFill>
                  <a:schemeClr val="accent3"/>
                </a:solidFill>
              </a:rPr>
              <a:t>CI writes new SHA into values.yaml</a:t>
            </a:r>
            <a:endParaRPr lang="en-US" sz="1400" dirty="0"/>
          </a:p>
          <a:p>
            <a:pPr marL="342900" indent="-342900">
              <a:spcAft>
                <a:spcPts val="800"/>
              </a:spcAft>
              <a:buSzPct val="100000"/>
              <a:buFont typeface="+mj-lt"/>
              <a:buAutoNum type="arabicPeriod" startAt="1"/>
            </a:pPr>
            <a:r>
              <a:rPr lang="en-US" sz="1400" dirty="0">
                <a:solidFill>
                  <a:schemeClr val="accent3"/>
                </a:solidFill>
              </a:rPr>
              <a:t>ArgoCD sees the commit</a:t>
            </a:r>
            <a:endParaRPr lang="en-US" sz="1400" dirty="0"/>
          </a:p>
          <a:p>
            <a:pPr marL="342900" indent="-342900">
              <a:spcAft>
                <a:spcPts val="800"/>
              </a:spcAft>
              <a:buSzPct val="100000"/>
              <a:buFont typeface="+mj-lt"/>
              <a:buAutoNum type="arabicPeriod" startAt="1"/>
            </a:pPr>
            <a:r>
              <a:rPr lang="en-US" sz="1400" dirty="0">
                <a:solidFill>
                  <a:schemeClr val="accent3"/>
                </a:solidFill>
              </a:rPr>
              <a:t>Auto sync, prune, self-heal</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Observability</a:t>
            </a:r>
            <a:endParaRPr lang="en-US" sz="3000" dirty="0"/>
          </a:p>
        </p:txBody>
      </p:sp>
      <p:pic>
        <p:nvPicPr>
          <p:cNvPr id="3" name="grafana-shot" descr="Grafana StockRoom dashboard">    </p:cNvPr>
          <p:cNvPicPr>
            <a:picLocks noChangeAspect="1"/>
          </p:cNvPicPr>
          <p:nvPr/>
        </p:nvPicPr>
        <p:blipFill>
          <a:blip r:embed="rId1"/>
          <a:stretch>
            <a:fillRect/>
          </a:stretch>
        </p:blipFill>
        <p:spPr>
          <a:xfrm>
            <a:off x="457200" y="1188720"/>
            <a:ext cx="5120640" cy="3087513"/>
          </a:xfrm>
          <a:prstGeom prst="rect">
            <a:avLst/>
          </a:prstGeom>
        </p:spPr>
      </p:pic>
      <p:sp>
        <p:nvSpPr>
          <p:cNvPr id="4" name="obs-h-0"/>
          <p:cNvSpPr txBox="1"/>
          <p:nvPr/>
        </p:nvSpPr>
        <p:spPr>
          <a:xfrm>
            <a:off x="5852160" y="1188720"/>
            <a:ext cx="2834640" cy="320040"/>
          </a:xfrm>
          <a:prstGeom prst="rect">
            <a:avLst/>
          </a:prstGeom>
          <a:noFill/>
          <a:ln/>
        </p:spPr>
        <p:txBody>
          <a:bodyPr wrap="square" lIns="0" tIns="0" rIns="0" bIns="0" rtlCol="0" anchor="t"/>
          <a:lstStyle/>
          <a:p>
            <a:pPr indent="0" marL="0">
              <a:buNone/>
            </a:pPr>
            <a:r>
              <a:rPr lang="en-US" sz="1600" b="1" dirty="0">
                <a:solidFill>
                  <a:schemeClr val="tx2"/>
                </a:solidFill>
              </a:rPr>
              <a:t>/metrics</a:t>
            </a:r>
            <a:endParaRPr lang="en-US" sz="1600" dirty="0"/>
          </a:p>
        </p:txBody>
      </p:sp>
      <p:sp>
        <p:nvSpPr>
          <p:cNvPr id="5" name="obs-b-0"/>
          <p:cNvSpPr txBox="1"/>
          <p:nvPr/>
        </p:nvSpPr>
        <p:spPr>
          <a:xfrm>
            <a:off x="5852160" y="1517904"/>
            <a:ext cx="2834640" cy="640080"/>
          </a:xfrm>
          <a:prstGeom prst="rect">
            <a:avLst/>
          </a:prstGeom>
          <a:noFill/>
          <a:ln/>
        </p:spPr>
        <p:txBody>
          <a:bodyPr wrap="square" lIns="0" tIns="0" rIns="0" bIns="0" rtlCol="0" anchor="t"/>
          <a:lstStyle/>
          <a:p>
            <a:pPr indent="0" marL="0">
              <a:buNone/>
            </a:pPr>
            <a:r>
              <a:rPr lang="en-US" sz="1200" dirty="0">
                <a:solidFill>
                  <a:schemeClr val="accent4"/>
                </a:solidFill>
              </a:rPr>
              <a:t>request count and latency per endpoint, plus a custom stock movement counter</a:t>
            </a:r>
            <a:endParaRPr lang="en-US" sz="1200" dirty="0"/>
          </a:p>
        </p:txBody>
      </p:sp>
      <p:sp>
        <p:nvSpPr>
          <p:cNvPr id="6" name="obs-h-1"/>
          <p:cNvSpPr txBox="1"/>
          <p:nvPr/>
        </p:nvSpPr>
        <p:spPr>
          <a:xfrm>
            <a:off x="5852160" y="2194560"/>
            <a:ext cx="2834640" cy="320040"/>
          </a:xfrm>
          <a:prstGeom prst="rect">
            <a:avLst/>
          </a:prstGeom>
          <a:noFill/>
          <a:ln/>
        </p:spPr>
        <p:txBody>
          <a:bodyPr wrap="square" lIns="0" tIns="0" rIns="0" bIns="0" rtlCol="0" anchor="t"/>
          <a:lstStyle/>
          <a:p>
            <a:pPr indent="0" marL="0">
              <a:buNone/>
            </a:pPr>
            <a:r>
              <a:rPr lang="en-US" sz="1600" b="1" dirty="0">
                <a:solidFill>
                  <a:schemeClr val="tx2"/>
                </a:solidFill>
              </a:rPr>
              <a:t>Prometheus</a:t>
            </a:r>
            <a:endParaRPr lang="en-US" sz="1600" dirty="0"/>
          </a:p>
        </p:txBody>
      </p:sp>
      <p:sp>
        <p:nvSpPr>
          <p:cNvPr id="7" name="obs-b-1"/>
          <p:cNvSpPr txBox="1"/>
          <p:nvPr/>
        </p:nvSpPr>
        <p:spPr>
          <a:xfrm>
            <a:off x="5852160" y="2523744"/>
            <a:ext cx="2834640" cy="640080"/>
          </a:xfrm>
          <a:prstGeom prst="rect">
            <a:avLst/>
          </a:prstGeom>
          <a:noFill/>
          <a:ln/>
        </p:spPr>
        <p:txBody>
          <a:bodyPr wrap="square" lIns="0" tIns="0" rIns="0" bIns="0" rtlCol="0" anchor="t"/>
          <a:lstStyle/>
          <a:p>
            <a:pPr indent="0" marL="0">
              <a:buNone/>
            </a:pPr>
            <a:r>
              <a:rPr lang="en-US" sz="1200" dirty="0">
                <a:solidFill>
                  <a:schemeClr val="accent4"/>
                </a:solidFill>
              </a:rPr>
              <a:t>ServiceMonitor picks up every backend pod, all UP</a:t>
            </a:r>
            <a:endParaRPr lang="en-US" sz="1200" dirty="0"/>
          </a:p>
        </p:txBody>
      </p:sp>
      <p:sp>
        <p:nvSpPr>
          <p:cNvPr id="8" name="obs-h-2"/>
          <p:cNvSpPr txBox="1"/>
          <p:nvPr/>
        </p:nvSpPr>
        <p:spPr>
          <a:xfrm>
            <a:off x="5852160" y="3200400"/>
            <a:ext cx="2834640" cy="320040"/>
          </a:xfrm>
          <a:prstGeom prst="rect">
            <a:avLst/>
          </a:prstGeom>
          <a:noFill/>
          <a:ln/>
        </p:spPr>
        <p:txBody>
          <a:bodyPr wrap="square" lIns="0" tIns="0" rIns="0" bIns="0" rtlCol="0" anchor="t"/>
          <a:lstStyle/>
          <a:p>
            <a:pPr indent="0" marL="0">
              <a:buNone/>
            </a:pPr>
            <a:r>
              <a:rPr lang="en-US" sz="1600" b="1" dirty="0">
                <a:solidFill>
                  <a:schemeClr val="tx2"/>
                </a:solidFill>
              </a:rPr>
              <a:t>Grafana</a:t>
            </a:r>
            <a:endParaRPr lang="en-US" sz="1600" dirty="0"/>
          </a:p>
        </p:txBody>
      </p:sp>
      <p:sp>
        <p:nvSpPr>
          <p:cNvPr id="9" name="obs-b-2"/>
          <p:cNvSpPr txBox="1"/>
          <p:nvPr/>
        </p:nvSpPr>
        <p:spPr>
          <a:xfrm>
            <a:off x="5852160" y="3529584"/>
            <a:ext cx="2834640" cy="640080"/>
          </a:xfrm>
          <a:prstGeom prst="rect">
            <a:avLst/>
          </a:prstGeom>
          <a:noFill/>
          <a:ln/>
        </p:spPr>
        <p:txBody>
          <a:bodyPr wrap="square" lIns="0" tIns="0" rIns="0" bIns="0" rtlCol="0" anchor="t"/>
          <a:lstStyle/>
          <a:p>
            <a:pPr indent="0" marL="0">
              <a:buNone/>
            </a:pPr>
            <a:r>
              <a:rPr lang="en-US" sz="1200" dirty="0">
                <a:solidFill>
                  <a:schemeClr val="accent4"/>
                </a:solidFill>
              </a:rPr>
              <a:t>dashboard ships with the chart: traffic, p95, 5xx rate, stock moves</a:t>
            </a:r>
            <a:endParaRPr lang="en-US" sz="12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Key learnings</a:t>
            </a:r>
            <a:endParaRPr lang="en-US" sz="3000" dirty="0"/>
          </a:p>
        </p:txBody>
      </p:sp>
      <p:sp>
        <p:nvSpPr>
          <p:cNvPr id="3" name="learn-card-0"/>
          <p:cNvSpPr/>
          <p:nvPr/>
        </p:nvSpPr>
        <p:spPr>
          <a:xfrm>
            <a:off x="457200" y="1234440"/>
            <a:ext cx="4023360" cy="1463040"/>
          </a:xfrm>
          <a:prstGeom prst="roundRect">
            <a:avLst>
              <a:gd name="adj" fmla="val 5000"/>
            </a:avLst>
          </a:prstGeom>
          <a:solidFill>
            <a:schemeClr val="bg2"/>
          </a:solidFill>
          <a:ln/>
        </p:spPr>
      </p:sp>
      <p:sp>
        <p:nvSpPr>
          <p:cNvPr id="4" name="learn-0-circle"/>
          <p:cNvSpPr/>
          <p:nvPr/>
        </p:nvSpPr>
        <p:spPr>
          <a:xfrm>
            <a:off x="640080" y="1463040"/>
            <a:ext cx="502920" cy="502920"/>
          </a:xfrm>
          <a:prstGeom prst="ellipse">
            <a:avLst/>
          </a:prstGeom>
          <a:solidFill>
            <a:schemeClr val="accent1"/>
          </a:solidFill>
          <a:ln/>
        </p:spPr>
      </p:sp>
      <p:pic>
        <p:nvPicPr>
          <p:cNvPr id="5" name="learn-0-icon" descr="learn-0">    </p:cNvPr>
          <p:cNvPicPr>
            <a:picLocks noChangeAspect="1"/>
          </p:cNvPicPr>
          <p:nvPr/>
        </p:nvPicPr>
        <p:blipFill>
          <a:blip r:embed="rId1"/>
          <a:stretch>
            <a:fillRect/>
          </a:stretch>
        </p:blipFill>
        <p:spPr>
          <a:xfrm>
            <a:off x="760781" y="1583741"/>
            <a:ext cx="261518" cy="261518"/>
          </a:xfrm>
          <a:prstGeom prst="rect">
            <a:avLst/>
          </a:prstGeom>
        </p:spPr>
      </p:pic>
      <p:sp>
        <p:nvSpPr>
          <p:cNvPr id="6" name="learn-h-0"/>
          <p:cNvSpPr txBox="1"/>
          <p:nvPr/>
        </p:nvSpPr>
        <p:spPr>
          <a:xfrm>
            <a:off x="1325880" y="1417320"/>
            <a:ext cx="3017520" cy="320040"/>
          </a:xfrm>
          <a:prstGeom prst="rect">
            <a:avLst/>
          </a:prstGeom>
          <a:noFill/>
          <a:ln/>
        </p:spPr>
        <p:txBody>
          <a:bodyPr wrap="square" lIns="0" tIns="0" rIns="0" bIns="0" rtlCol="0" anchor="t"/>
          <a:lstStyle/>
          <a:p>
            <a:pPr indent="0" marL="0">
              <a:buNone/>
            </a:pPr>
            <a:r>
              <a:rPr lang="en-US" sz="1600" b="1" dirty="0">
                <a:solidFill>
                  <a:schemeClr val="tx2"/>
                </a:solidFill>
              </a:rPr>
              <a:t>Replicas race on first boot</a:t>
            </a:r>
            <a:endParaRPr lang="en-US" sz="1600" dirty="0"/>
          </a:p>
        </p:txBody>
      </p:sp>
      <p:sp>
        <p:nvSpPr>
          <p:cNvPr id="7" name="learn-b-0"/>
          <p:cNvSpPr txBox="1"/>
          <p:nvPr/>
        </p:nvSpPr>
        <p:spPr>
          <a:xfrm>
            <a:off x="1325880" y="1764792"/>
            <a:ext cx="3017520" cy="868680"/>
          </a:xfrm>
          <a:prstGeom prst="rect">
            <a:avLst/>
          </a:prstGeom>
          <a:noFill/>
          <a:ln/>
        </p:spPr>
        <p:txBody>
          <a:bodyPr wrap="square" lIns="0" tIns="0" rIns="0" bIns="0" rtlCol="0" anchor="t"/>
          <a:lstStyle/>
          <a:p>
            <a:pPr indent="0" marL="0">
              <a:buNone/>
            </a:pPr>
            <a:r>
              <a:rPr lang="en-US" sz="1200" dirty="0">
                <a:solidFill>
                  <a:schemeClr val="accent4"/>
                </a:solidFill>
              </a:rPr>
              <a:t>Two pods ran migrations at once and crashed. Fixed with an init container and a Postgres advisory lock.</a:t>
            </a:r>
            <a:endParaRPr lang="en-US" sz="1200" dirty="0"/>
          </a:p>
        </p:txBody>
      </p:sp>
      <p:sp>
        <p:nvSpPr>
          <p:cNvPr id="8" name="learn-card-1"/>
          <p:cNvSpPr/>
          <p:nvPr/>
        </p:nvSpPr>
        <p:spPr>
          <a:xfrm>
            <a:off x="4663440" y="1234440"/>
            <a:ext cx="4023360" cy="1463040"/>
          </a:xfrm>
          <a:prstGeom prst="roundRect">
            <a:avLst>
              <a:gd name="adj" fmla="val 5000"/>
            </a:avLst>
          </a:prstGeom>
          <a:solidFill>
            <a:schemeClr val="bg2"/>
          </a:solidFill>
          <a:ln/>
        </p:spPr>
      </p:sp>
      <p:sp>
        <p:nvSpPr>
          <p:cNvPr id="9" name="learn-1-circle"/>
          <p:cNvSpPr/>
          <p:nvPr/>
        </p:nvSpPr>
        <p:spPr>
          <a:xfrm>
            <a:off x="4846320" y="1463040"/>
            <a:ext cx="502920" cy="502920"/>
          </a:xfrm>
          <a:prstGeom prst="ellipse">
            <a:avLst/>
          </a:prstGeom>
          <a:solidFill>
            <a:schemeClr val="accent1"/>
          </a:solidFill>
          <a:ln/>
        </p:spPr>
      </p:sp>
      <p:pic>
        <p:nvPicPr>
          <p:cNvPr id="10" name="learn-1-icon" descr="learn-1">    </p:cNvPr>
          <p:cNvPicPr>
            <a:picLocks noChangeAspect="1"/>
          </p:cNvPicPr>
          <p:nvPr/>
        </p:nvPicPr>
        <p:blipFill>
          <a:blip r:embed="rId2"/>
          <a:stretch>
            <a:fillRect/>
          </a:stretch>
        </p:blipFill>
        <p:spPr>
          <a:xfrm>
            <a:off x="4967021" y="1583741"/>
            <a:ext cx="261518" cy="261518"/>
          </a:xfrm>
          <a:prstGeom prst="rect">
            <a:avLst/>
          </a:prstGeom>
        </p:spPr>
      </p:pic>
      <p:sp>
        <p:nvSpPr>
          <p:cNvPr id="11" name="learn-h-1"/>
          <p:cNvSpPr txBox="1"/>
          <p:nvPr/>
        </p:nvSpPr>
        <p:spPr>
          <a:xfrm>
            <a:off x="5532120" y="1417320"/>
            <a:ext cx="3017520" cy="320040"/>
          </a:xfrm>
          <a:prstGeom prst="rect">
            <a:avLst/>
          </a:prstGeom>
          <a:noFill/>
          <a:ln/>
        </p:spPr>
        <p:txBody>
          <a:bodyPr wrap="square" lIns="0" tIns="0" rIns="0" bIns="0" rtlCol="0" anchor="t"/>
          <a:lstStyle/>
          <a:p>
            <a:pPr indent="0" marL="0">
              <a:buNone/>
            </a:pPr>
            <a:r>
              <a:rPr lang="en-US" sz="1600" b="1" dirty="0">
                <a:solidFill>
                  <a:schemeClr val="tx2"/>
                </a:solidFill>
              </a:rPr>
              <a:t>CVEs hide in your tooling</a:t>
            </a:r>
            <a:endParaRPr lang="en-US" sz="1600" dirty="0"/>
          </a:p>
        </p:txBody>
      </p:sp>
      <p:sp>
        <p:nvSpPr>
          <p:cNvPr id="12" name="learn-b-1"/>
          <p:cNvSpPr txBox="1"/>
          <p:nvPr/>
        </p:nvSpPr>
        <p:spPr>
          <a:xfrm>
            <a:off x="5532120" y="1764792"/>
            <a:ext cx="3017520" cy="868680"/>
          </a:xfrm>
          <a:prstGeom prst="rect">
            <a:avLst/>
          </a:prstGeom>
          <a:noFill/>
          <a:ln/>
        </p:spPr>
        <p:txBody>
          <a:bodyPr wrap="square" lIns="0" tIns="0" rIns="0" bIns="0" rtlCol="0" anchor="t"/>
          <a:lstStyle/>
          <a:p>
            <a:pPr indent="0" marL="0">
              <a:buNone/>
            </a:pPr>
            <a:r>
              <a:rPr lang="en-US" sz="1200" dirty="0">
                <a:solidFill>
                  <a:schemeClr val="accent4"/>
                </a:solidFill>
              </a:rPr>
              <a:t>Every Trivy hit was in pip, not the app. Shipping less fixes more than patching.</a:t>
            </a:r>
            <a:endParaRPr lang="en-US" sz="1200" dirty="0"/>
          </a:p>
        </p:txBody>
      </p:sp>
      <p:sp>
        <p:nvSpPr>
          <p:cNvPr id="13" name="learn-card-2"/>
          <p:cNvSpPr/>
          <p:nvPr/>
        </p:nvSpPr>
        <p:spPr>
          <a:xfrm>
            <a:off x="457200" y="2880360"/>
            <a:ext cx="4023360" cy="1463040"/>
          </a:xfrm>
          <a:prstGeom prst="roundRect">
            <a:avLst>
              <a:gd name="adj" fmla="val 5000"/>
            </a:avLst>
          </a:prstGeom>
          <a:solidFill>
            <a:schemeClr val="bg2"/>
          </a:solidFill>
          <a:ln/>
        </p:spPr>
      </p:sp>
      <p:sp>
        <p:nvSpPr>
          <p:cNvPr id="14" name="learn-2-circle"/>
          <p:cNvSpPr/>
          <p:nvPr/>
        </p:nvSpPr>
        <p:spPr>
          <a:xfrm>
            <a:off x="640080" y="3108960"/>
            <a:ext cx="502920" cy="502920"/>
          </a:xfrm>
          <a:prstGeom prst="ellipse">
            <a:avLst/>
          </a:prstGeom>
          <a:solidFill>
            <a:schemeClr val="accent1"/>
          </a:solidFill>
          <a:ln/>
        </p:spPr>
      </p:sp>
      <p:pic>
        <p:nvPicPr>
          <p:cNvPr id="15" name="learn-2-icon" descr="learn-2">    </p:cNvPr>
          <p:cNvPicPr>
            <a:picLocks noChangeAspect="1"/>
          </p:cNvPicPr>
          <p:nvPr/>
        </p:nvPicPr>
        <p:blipFill>
          <a:blip r:embed="rId3"/>
          <a:stretch>
            <a:fillRect/>
          </a:stretch>
        </p:blipFill>
        <p:spPr>
          <a:xfrm>
            <a:off x="760781" y="3229661"/>
            <a:ext cx="261518" cy="261518"/>
          </a:xfrm>
          <a:prstGeom prst="rect">
            <a:avLst/>
          </a:prstGeom>
        </p:spPr>
      </p:pic>
      <p:sp>
        <p:nvSpPr>
          <p:cNvPr id="16" name="learn-h-2"/>
          <p:cNvSpPr txBox="1"/>
          <p:nvPr/>
        </p:nvSpPr>
        <p:spPr>
          <a:xfrm>
            <a:off x="1325880" y="3063240"/>
            <a:ext cx="3017520" cy="320040"/>
          </a:xfrm>
          <a:prstGeom prst="rect">
            <a:avLst/>
          </a:prstGeom>
          <a:noFill/>
          <a:ln/>
        </p:spPr>
        <p:txBody>
          <a:bodyPr wrap="square" lIns="0" tIns="0" rIns="0" bIns="0" rtlCol="0" anchor="t"/>
          <a:lstStyle/>
          <a:p>
            <a:pPr indent="0" marL="0">
              <a:buNone/>
            </a:pPr>
            <a:r>
              <a:rPr lang="en-US" sz="1600" b="1" dirty="0">
                <a:solidFill>
                  <a:schemeClr val="tx2"/>
                </a:solidFill>
              </a:rPr>
              <a:t>Red targets aren't always bugs</a:t>
            </a:r>
            <a:endParaRPr lang="en-US" sz="1600" dirty="0"/>
          </a:p>
        </p:txBody>
      </p:sp>
      <p:sp>
        <p:nvSpPr>
          <p:cNvPr id="17" name="learn-b-2"/>
          <p:cNvSpPr txBox="1"/>
          <p:nvPr/>
        </p:nvSpPr>
        <p:spPr>
          <a:xfrm>
            <a:off x="1325880" y="3410712"/>
            <a:ext cx="3017520" cy="868680"/>
          </a:xfrm>
          <a:prstGeom prst="rect">
            <a:avLst/>
          </a:prstGeom>
          <a:noFill/>
          <a:ln/>
        </p:spPr>
        <p:txBody>
          <a:bodyPr wrap="square" lIns="0" tIns="0" rIns="0" bIns="0" rtlCol="0" anchor="t"/>
          <a:lstStyle/>
          <a:p>
            <a:pPr indent="0" marL="0">
              <a:buNone/>
            </a:pPr>
            <a:r>
              <a:rPr lang="en-US" sz="1200" dirty="0">
                <a:solidFill>
                  <a:schemeClr val="accent4"/>
                </a:solidFill>
              </a:rPr>
              <a:t>Managed control planes hide their metrics. Turned those scrapes off so real failures stand out.</a:t>
            </a:r>
            <a:endParaRPr lang="en-US" sz="1200" dirty="0"/>
          </a:p>
        </p:txBody>
      </p:sp>
      <p:sp>
        <p:nvSpPr>
          <p:cNvPr id="18" name="learn-card-3"/>
          <p:cNvSpPr/>
          <p:nvPr/>
        </p:nvSpPr>
        <p:spPr>
          <a:xfrm>
            <a:off x="4663440" y="2880360"/>
            <a:ext cx="4023360" cy="1463040"/>
          </a:xfrm>
          <a:prstGeom prst="roundRect">
            <a:avLst>
              <a:gd name="adj" fmla="val 5000"/>
            </a:avLst>
          </a:prstGeom>
          <a:solidFill>
            <a:schemeClr val="bg2"/>
          </a:solidFill>
          <a:ln/>
        </p:spPr>
      </p:sp>
      <p:sp>
        <p:nvSpPr>
          <p:cNvPr id="19" name="learn-3-circle"/>
          <p:cNvSpPr/>
          <p:nvPr/>
        </p:nvSpPr>
        <p:spPr>
          <a:xfrm>
            <a:off x="4846320" y="3108960"/>
            <a:ext cx="502920" cy="502920"/>
          </a:xfrm>
          <a:prstGeom prst="ellipse">
            <a:avLst/>
          </a:prstGeom>
          <a:solidFill>
            <a:schemeClr val="accent1"/>
          </a:solidFill>
          <a:ln/>
        </p:spPr>
      </p:sp>
      <p:pic>
        <p:nvPicPr>
          <p:cNvPr id="20" name="learn-3-icon" descr="learn-3">    </p:cNvPr>
          <p:cNvPicPr>
            <a:picLocks noChangeAspect="1"/>
          </p:cNvPicPr>
          <p:nvPr/>
        </p:nvPicPr>
        <p:blipFill>
          <a:blip r:embed="rId4"/>
          <a:stretch>
            <a:fillRect/>
          </a:stretch>
        </p:blipFill>
        <p:spPr>
          <a:xfrm>
            <a:off x="4967021" y="3229661"/>
            <a:ext cx="261518" cy="261518"/>
          </a:xfrm>
          <a:prstGeom prst="rect">
            <a:avLst/>
          </a:prstGeom>
        </p:spPr>
      </p:pic>
      <p:sp>
        <p:nvSpPr>
          <p:cNvPr id="21" name="learn-h-3"/>
          <p:cNvSpPr txBox="1"/>
          <p:nvPr/>
        </p:nvSpPr>
        <p:spPr>
          <a:xfrm>
            <a:off x="5532120" y="3063240"/>
            <a:ext cx="3017520" cy="320040"/>
          </a:xfrm>
          <a:prstGeom prst="rect">
            <a:avLst/>
          </a:prstGeom>
          <a:noFill/>
          <a:ln/>
        </p:spPr>
        <p:txBody>
          <a:bodyPr wrap="square" lIns="0" tIns="0" rIns="0" bIns="0" rtlCol="0" anchor="t"/>
          <a:lstStyle/>
          <a:p>
            <a:pPr indent="0" marL="0">
              <a:buNone/>
            </a:pPr>
            <a:r>
              <a:rPr lang="en-US" sz="1600" b="1" dirty="0">
                <a:solidFill>
                  <a:schemeClr val="tx2"/>
                </a:solidFill>
              </a:rPr>
              <a:t>Pin what you run</a:t>
            </a:r>
            <a:endParaRPr lang="en-US" sz="1600" dirty="0"/>
          </a:p>
        </p:txBody>
      </p:sp>
      <p:sp>
        <p:nvSpPr>
          <p:cNvPr id="22" name="learn-b-3"/>
          <p:cNvSpPr txBox="1"/>
          <p:nvPr/>
        </p:nvSpPr>
        <p:spPr>
          <a:xfrm>
            <a:off x="5532120" y="3410712"/>
            <a:ext cx="3017520" cy="868680"/>
          </a:xfrm>
          <a:prstGeom prst="rect">
            <a:avLst/>
          </a:prstGeom>
          <a:noFill/>
          <a:ln/>
        </p:spPr>
        <p:txBody>
          <a:bodyPr wrap="square" lIns="0" tIns="0" rIns="0" bIns="0" rtlCol="0" anchor="t"/>
          <a:lstStyle/>
          <a:p>
            <a:pPr indent="0" marL="0">
              <a:buNone/>
            </a:pPr>
            <a:r>
              <a:rPr lang="en-US" sz="1200" dirty="0">
                <a:solidFill>
                  <a:schemeClr val="accent4"/>
                </a:solidFill>
              </a:rPr>
              <a:t>Actions pinned by SHA, images tagged by SHA. Tags move, hashes don't.</a:t>
            </a:r>
            <a:endParaRPr lang="en-US" sz="12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097280"/>
          </a:xfrm>
          <a:prstGeom prst="rect">
            <a:avLst/>
          </a:prstGeom>
          <a:noFill/>
          <a:ln/>
        </p:spPr>
        <p:txBody>
          <a:bodyPr wrap="square" lIns="0" tIns="0" rIns="0" bIns="0" rtlCol="0" anchor="b"/>
          <a:lstStyle/>
          <a:p>
            <a:pPr algn="l" indent="0" marL="0">
              <a:buNone/>
            </a:pPr>
            <a:r>
              <a:rPr lang="en-US" sz="4800" b="1" dirty="0">
                <a:solidFill>
                  <a:schemeClr val="bg1"/>
                </a:solidFill>
                <a:latin typeface="Cambria" pitchFamily="34" charset="0"/>
                <a:ea typeface="Cambria" pitchFamily="34" charset="-122"/>
                <a:cs typeface="Cambria" pitchFamily="34" charset="-120"/>
              </a:rPr>
              <a:t>Live demo</a:t>
            </a:r>
            <a:endParaRPr lang="en-US" sz="4800" dirty="0"/>
          </a:p>
        </p:txBody>
      </p:sp>
      <p:sp>
        <p:nvSpPr>
          <p:cNvPr id="3" name="Text 0"/>
          <p:cNvSpPr/>
          <p:nvPr>
            <p:ph idx="101" type="body" hasCustomPrompt="1"/>
          </p:nvPr>
        </p:nvSpPr>
        <p:spPr>
          <a:xfrm>
            <a:off x="548640" y="2606040"/>
            <a:ext cx="8046720" cy="914400"/>
          </a:xfrm>
          <a:prstGeom prst="rect">
            <a:avLst/>
          </a:prstGeom>
          <a:noFill/>
          <a:ln/>
        </p:spPr>
        <p:txBody>
          <a:bodyPr wrap="square" lIns="0" tIns="0" rIns="0" bIns="0" rtlCol="0" anchor="t"/>
          <a:lstStyle/>
          <a:p>
            <a:pPr algn="l" indent="0" marL="0">
              <a:buNone/>
            </a:pPr>
            <a:r>
              <a:rPr lang="en-US" sz="2000" dirty="0">
                <a:solidFill>
                  <a:schemeClr val="accent3"/>
                </a:solidFill>
              </a:rPr>
              <a:t>Code  ·  CI run  ·  Terraform  ·  ArgoCD  ·  kubectl  ·  Prometheus  ·  Grafana</a:t>
            </a:r>
            <a:endParaRPr lang="en-US" sz="2000" dirty="0"/>
          </a:p>
        </p:txBody>
      </p:sp>
      <p:sp>
        <p:nvSpPr>
          <p:cNvPr id="4" name="demo-circle"/>
          <p:cNvSpPr/>
          <p:nvPr/>
        </p:nvSpPr>
        <p:spPr>
          <a:xfrm>
            <a:off x="548640" y="548640"/>
            <a:ext cx="685800" cy="685800"/>
          </a:xfrm>
          <a:prstGeom prst="ellipse">
            <a:avLst/>
          </a:prstGeom>
          <a:solidFill>
            <a:schemeClr val="accent1"/>
          </a:solidFill>
          <a:ln/>
        </p:spPr>
      </p:sp>
      <p:pic>
        <p:nvPicPr>
          <p:cNvPr id="5" name="demo-icon" descr="demo">    </p:cNvPr>
          <p:cNvPicPr>
            <a:picLocks noChangeAspect="1"/>
          </p:cNvPicPr>
          <p:nvPr/>
        </p:nvPicPr>
        <p:blipFill>
          <a:blip r:embed="rId1"/>
          <a:stretch>
            <a:fillRect/>
          </a:stretch>
        </p:blipFill>
        <p:spPr>
          <a:xfrm>
            <a:off x="713232" y="713232"/>
            <a:ext cx="356616" cy="356616"/>
          </a:xfrm>
          <a:prstGeom prst="rect">
            <a:avLst/>
          </a:prstGeom>
        </p:spPr>
      </p:pic>
      <p:sp>
        <p:nvSpPr>
          <p:cNvPr id="6" name="repo"/>
          <p:cNvSpPr txBox="1"/>
          <p:nvPr/>
        </p:nvSpPr>
        <p:spPr>
          <a:xfrm>
            <a:off x="548640" y="4297680"/>
            <a:ext cx="8046720" cy="365760"/>
          </a:xfrm>
          <a:prstGeom prst="rect">
            <a:avLst/>
          </a:prstGeom>
          <a:noFill/>
          <a:ln/>
        </p:spPr>
        <p:txBody>
          <a:bodyPr wrap="square" lIns="0" tIns="0" rIns="0" bIns="0" rtlCol="0" anchor="t"/>
          <a:lstStyle/>
          <a:p>
            <a:pPr indent="0" marL="0">
              <a:buNone/>
            </a:pPr>
            <a:r>
              <a:rPr lang="en-US" sz="1400" dirty="0">
                <a:solidFill>
                  <a:schemeClr val="accent3"/>
                </a:solidFill>
              </a:rPr>
              <a:t>github.com/u7k4rs6/Capstone</a:t>
            </a:r>
            <a:endParaRPr lang="en-US" sz="1400" dirty="0"/>
          </a:p>
        </p:txBody>
      </p:sp>
    </p:spTree>
  </p:cSld>
  <p:clrMapOvr>
    <a:masterClrMapping/>
  </p:clrMapOvr>
</p:sld>
</file>

<file path=ppt/theme/theme1.xml><?xml version="1.0" encoding="utf-8"?>
<a:theme xmlns:a="http://schemas.openxmlformats.org/drawingml/2006/main" name="StockRoom">
  <a:themeElements>
    <a:clrScheme name="StockRoom">
      <a:dk1>
        <a:srgbClr val="18212B"/>
      </a:dk1>
      <a:lt1>
        <a:srgbClr val="FFFFFF"/>
      </a:lt1>
      <a:dk2>
        <a:srgbClr val="10201F"/>
      </a:dk2>
      <a:lt2>
        <a:srgbClr val="F1F5F4"/>
      </a:lt2>
      <a:accent1>
        <a:srgbClr val="0F766E"/>
      </a:accent1>
      <a:accent2>
        <a:srgbClr val="D97706"/>
      </a:accent2>
      <a:accent3>
        <a:srgbClr val="CCEBE6"/>
      </a:accent3>
      <a:accent4>
        <a:srgbClr val="5B6670"/>
      </a:accent4>
      <a:accent5>
        <a:srgbClr val="B91C1C"/>
      </a:accent5>
      <a:accent6>
        <a:srgbClr val="1D4ED8"/>
      </a:accent6>
      <a:hlink>
        <a:srgbClr val="0F766E"/>
      </a:hlink>
      <a:folHlink>
        <a:srgbClr val="5B6670"/>
      </a:folHlink>
    </a:clrScheme>
    <a:fontScheme name="StockRoom">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StockRoom DevSecOps Capstone</dc:title>
  <dc:subject>PptxGenJS Presentation</dc:subject>
  <dc:creator>PptxGenJS</dc:creator>
  <cp:lastModifiedBy>PptxGenJS</cp:lastModifiedBy>
  <cp:revision>1</cp:revision>
  <dcterms:created xsi:type="dcterms:W3CDTF">2026-10-16T13:52:50Z</dcterms:created>
  <dcterms:modified xsi:type="dcterms:W3CDTF">2026-10-16T13:52:50Z</dcterms:modified>
</cp:coreProperties>
</file>